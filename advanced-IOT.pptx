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7" r:id="rId2"/>
    <p:sldId id="259" r:id="rId3"/>
    <p:sldId id="258" r:id="rId4"/>
    <p:sldId id="260" r:id="rId5"/>
    <p:sldId id="287" r:id="rId6"/>
    <p:sldId id="288" r:id="rId7"/>
    <p:sldId id="289" r:id="rId8"/>
    <p:sldId id="291" r:id="rId9"/>
    <p:sldId id="290" r:id="rId10"/>
    <p:sldId id="292" r:id="rId11"/>
    <p:sldId id="293" r:id="rId12"/>
    <p:sldId id="294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07" r:id="rId26"/>
    <p:sldId id="308" r:id="rId27"/>
    <p:sldId id="309" r:id="rId28"/>
    <p:sldId id="310" r:id="rId29"/>
    <p:sldId id="311" r:id="rId30"/>
    <p:sldId id="312" r:id="rId31"/>
    <p:sldId id="314" r:id="rId32"/>
    <p:sldId id="315" r:id="rId33"/>
    <p:sldId id="316" r:id="rId34"/>
    <p:sldId id="317" r:id="rId35"/>
    <p:sldId id="318" r:id="rId36"/>
    <p:sldId id="319" r:id="rId37"/>
    <p:sldId id="320" r:id="rId38"/>
    <p:sldId id="321" r:id="rId39"/>
    <p:sldId id="322" r:id="rId40"/>
    <p:sldId id="323" r:id="rId41"/>
    <p:sldId id="324" r:id="rId42"/>
    <p:sldId id="325" r:id="rId43"/>
    <p:sldId id="326" r:id="rId44"/>
    <p:sldId id="327" r:id="rId45"/>
    <p:sldId id="328" r:id="rId46"/>
    <p:sldId id="329" r:id="rId47"/>
    <p:sldId id="330" r:id="rId48"/>
    <p:sldId id="331" r:id="rId49"/>
    <p:sldId id="332" r:id="rId50"/>
    <p:sldId id="313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572" userDrawn="1">
          <p15:clr>
            <a:srgbClr val="A4A3A4"/>
          </p15:clr>
        </p15:guide>
        <p15:guide id="4" pos="7151" userDrawn="1">
          <p15:clr>
            <a:srgbClr val="A4A3A4"/>
          </p15:clr>
        </p15:guide>
        <p15:guide id="5" pos="529" userDrawn="1">
          <p15:clr>
            <a:srgbClr val="A4A3A4"/>
          </p15:clr>
        </p15:guide>
        <p15:guide id="6" pos="3024" userDrawn="1">
          <p15:clr>
            <a:srgbClr val="A4A3A4"/>
          </p15:clr>
        </p15:guide>
        <p15:guide id="7" pos="3250" userDrawn="1">
          <p15:clr>
            <a:srgbClr val="A4A3A4"/>
          </p15:clr>
        </p15:guide>
        <p15:guide id="8" orient="horz" pos="370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FBFBFB"/>
    <a:srgbClr val="15032C"/>
    <a:srgbClr val="EEECE1"/>
    <a:srgbClr val="EEECFF"/>
    <a:srgbClr val="EEEEEB"/>
    <a:srgbClr val="1804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896BAB-7E5F-42CC-AFD2-A27697842B1E}" v="7" dt="2024-09-23T06:06:13.5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06" autoAdjust="0"/>
    <p:restoredTop sz="94689"/>
  </p:normalViewPr>
  <p:slideViewPr>
    <p:cSldViewPr snapToGrid="0" showGuides="1">
      <p:cViewPr varScale="1">
        <p:scale>
          <a:sx n="147" d="100"/>
          <a:sy n="147" d="100"/>
        </p:scale>
        <p:origin x="1144" y="200"/>
      </p:cViewPr>
      <p:guideLst>
        <p:guide orient="horz" pos="2137"/>
        <p:guide pos="3840"/>
        <p:guide orient="horz" pos="572"/>
        <p:guide pos="7151"/>
        <p:guide pos="529"/>
        <p:guide pos="3024"/>
        <p:guide pos="3250"/>
        <p:guide orient="horz" pos="37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jisha vm" userId="75d9e9c9-0067-4356-b55a-ce365df424e0" providerId="ADAL" clId="{FD896BAB-7E5F-42CC-AFD2-A27697842B1E}"/>
    <pc:docChg chg="undo custSel modSld">
      <pc:chgData name="ajisha vm" userId="75d9e9c9-0067-4356-b55a-ce365df424e0" providerId="ADAL" clId="{FD896BAB-7E5F-42CC-AFD2-A27697842B1E}" dt="2024-09-23T06:06:13.554" v="46"/>
      <pc:docMkLst>
        <pc:docMk/>
      </pc:docMkLst>
      <pc:sldChg chg="addSp modSp mod">
        <pc:chgData name="ajisha vm" userId="75d9e9c9-0067-4356-b55a-ce365df424e0" providerId="ADAL" clId="{FD896BAB-7E5F-42CC-AFD2-A27697842B1E}" dt="2024-09-23T06:06:05.549" v="44" actId="1076"/>
        <pc:sldMkLst>
          <pc:docMk/>
          <pc:sldMk cId="1689639929" sldId="256"/>
        </pc:sldMkLst>
        <pc:spChg chg="mod">
          <ac:chgData name="ajisha vm" userId="75d9e9c9-0067-4356-b55a-ce365df424e0" providerId="ADAL" clId="{FD896BAB-7E5F-42CC-AFD2-A27697842B1E}" dt="2024-09-23T05:47:23.151" v="22" actId="20577"/>
          <ac:spMkLst>
            <pc:docMk/>
            <pc:sldMk cId="1689639929" sldId="256"/>
            <ac:spMk id="100" creationId="{D1E9DAD2-47CA-7015-A767-820245548EAE}"/>
          </ac:spMkLst>
        </pc:spChg>
        <pc:spChg chg="mod">
          <ac:chgData name="ajisha vm" userId="75d9e9c9-0067-4356-b55a-ce365df424e0" providerId="ADAL" clId="{FD896BAB-7E5F-42CC-AFD2-A27697842B1E}" dt="2024-09-23T05:46:24.708" v="7" actId="20577"/>
          <ac:spMkLst>
            <pc:docMk/>
            <pc:sldMk cId="1689639929" sldId="256"/>
            <ac:spMk id="238" creationId="{69961449-DAC5-42D7-274D-4236548CA5C7}"/>
          </ac:spMkLst>
        </pc:spChg>
        <pc:picChg chg="add mod">
          <ac:chgData name="ajisha vm" userId="75d9e9c9-0067-4356-b55a-ce365df424e0" providerId="ADAL" clId="{FD896BAB-7E5F-42CC-AFD2-A27697842B1E}" dt="2024-09-23T06:06:05.549" v="44" actId="1076"/>
          <ac:picMkLst>
            <pc:docMk/>
            <pc:sldMk cId="1689639929" sldId="256"/>
            <ac:picMk id="2" creationId="{617551E4-BD5E-2999-BC05-2BD896CF42DB}"/>
          </ac:picMkLst>
        </pc:picChg>
      </pc:sldChg>
      <pc:sldChg chg="addSp delSp modSp mod">
        <pc:chgData name="ajisha vm" userId="75d9e9c9-0067-4356-b55a-ce365df424e0" providerId="ADAL" clId="{FD896BAB-7E5F-42CC-AFD2-A27697842B1E}" dt="2024-09-23T06:06:13.554" v="46"/>
        <pc:sldMkLst>
          <pc:docMk/>
          <pc:sldMk cId="4138204391" sldId="257"/>
        </pc:sldMkLst>
        <pc:spChg chg="add mod">
          <ac:chgData name="ajisha vm" userId="75d9e9c9-0067-4356-b55a-ce365df424e0" providerId="ADAL" clId="{FD896BAB-7E5F-42CC-AFD2-A27697842B1E}" dt="2024-09-23T05:47:10.929" v="19"/>
          <ac:spMkLst>
            <pc:docMk/>
            <pc:sldMk cId="4138204391" sldId="257"/>
            <ac:spMk id="2" creationId="{0A216051-7359-74CF-6839-9A5B83332110}"/>
          </ac:spMkLst>
        </pc:spChg>
        <pc:spChg chg="add mod">
          <ac:chgData name="ajisha vm" userId="75d9e9c9-0067-4356-b55a-ce365df424e0" providerId="ADAL" clId="{FD896BAB-7E5F-42CC-AFD2-A27697842B1E}" dt="2024-09-23T05:47:32.830" v="24"/>
          <ac:spMkLst>
            <pc:docMk/>
            <pc:sldMk cId="4138204391" sldId="257"/>
            <ac:spMk id="3" creationId="{1CB537DA-F4B0-448C-CEB0-DE8BB1BBBC4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8" creationId="{5D72BC32-3FA0-B1DF-DD19-7EE2ECAEF517}"/>
          </ac:spMkLst>
        </pc:spChg>
        <pc:spChg chg="mod">
          <ac:chgData name="ajisha vm" userId="75d9e9c9-0067-4356-b55a-ce365df424e0" providerId="ADAL" clId="{FD896BAB-7E5F-42CC-AFD2-A27697842B1E}" dt="2024-09-23T06:05:08.198" v="34" actId="1076"/>
          <ac:spMkLst>
            <pc:docMk/>
            <pc:sldMk cId="4138204391" sldId="257"/>
            <ac:spMk id="12" creationId="{57779A2A-A42B-5361-1A2B-0483432784F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2" creationId="{B6933E36-1290-9D45-BE5A-E413CB95B3C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3" creationId="{189B5731-C5E5-6348-EF64-20CFCBE6E49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" creationId="{75697FBB-58A4-763D-F7C3-C47C464DB3A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1" creationId="{20BE7FCB-5F26-32ED-C25E-FB728FCA555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3" creationId="{FF631491-C19B-8681-77D8-15699F21F6E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4" creationId="{FEDED12D-A569-A917-35A7-96F4E57400A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5" creationId="{CE64F615-A5D7-747F-CF3E-5B7B70A2098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7" creationId="{05B7D415-0EE9-8163-0422-A4F4BA859F8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9" creationId="{97DFD1F3-C169-8EC6-A1E1-EAF1DC8B01D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1" creationId="{2B13988E-A6A9-B380-CAF5-E5B7FB9FD55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3" creationId="{95AF8CD4-FC13-6971-60C9-0E0C9D3DBE3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4" creationId="{9DA2F341-277F-CE38-899E-E7F576F8F325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6" creationId="{303B1777-CEFD-812D-8C4A-40808E39B53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7" creationId="{DDB6555D-523D-2B66-26CA-C8A915A84B9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49" creationId="{BC611B67-EDE9-87BB-520D-578993948D9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51" creationId="{6FD74C52-E0E3-3E07-7BA3-725B731CC66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55" creationId="{E5343464-1159-5B38-A999-2582E3F444D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57" creationId="{E0B49E88-DA42-FB90-30E5-4CD4A356701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58" creationId="{504BB458-E28C-39E2-3F3E-5A390F91841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1" creationId="{E5292BB9-87DE-6336-F6C6-5E3519E60F1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2" creationId="{3DC3CA1C-15AE-8E6B-153E-EC9054DE96F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5" creationId="{E5DE481F-B75A-DF50-C16C-9EF86067C0D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6" creationId="{2A664774-B30A-D411-7144-4363D8B244B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67" creationId="{24976143-F919-E038-B061-23C3B6C0C3E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89" creationId="{970BC431-A583-0087-E6BA-DED641740B82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90" creationId="{5D95423A-8088-4DA6-4FB8-9EB3B6E8F3E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91" creationId="{E9E904AA-91D8-2A65-8822-852B6056A4C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95" creationId="{04E7813D-C23D-B2B7-31D4-03BCE4FF60AE}"/>
          </ac:spMkLst>
        </pc:spChg>
        <pc:spChg chg="del">
          <ac:chgData name="ajisha vm" userId="75d9e9c9-0067-4356-b55a-ce365df424e0" providerId="ADAL" clId="{FD896BAB-7E5F-42CC-AFD2-A27697842B1E}" dt="2024-09-23T05:47:31.710" v="23" actId="478"/>
          <ac:spMkLst>
            <pc:docMk/>
            <pc:sldMk cId="4138204391" sldId="257"/>
            <ac:spMk id="100" creationId="{D1E9DAD2-47CA-7015-A767-820245548EA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1" creationId="{D6F0EA73-B5C7-A5B9-97D6-4EE58B75DEF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3" creationId="{F00B3997-C1E9-8CB1-EF46-A73E913BA7C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5" creationId="{B241FF1C-141B-E5DB-70E6-EEF5B510CA7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7" creationId="{FF19013A-2F9F-67A1-8D46-0FA08712758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09" creationId="{FD678216-F903-1062-B2CB-9FC26EE0A752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3" creationId="{4DDCDD72-3902-E186-950C-8B9C8E4ED98A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5" creationId="{849F28C7-10A6-C51A-688A-175FA8185E1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7" creationId="{40285C1A-65B3-EE4E-15F0-423A28310FC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8" creationId="{1DC3F02C-4CD2-9728-0792-71265149D68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19" creationId="{1938A6E7-8AF8-6A14-6E69-01928D87598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20" creationId="{EE98AB05-DD23-6092-13B0-3150366C4767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26" creationId="{BDB808FE-2D1C-9EF8-5BE9-6CA388228565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32" creationId="{9F5D5C8C-B5DE-D7CD-69CB-9AF176651D4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58" creationId="{D4B0DD36-42A8-8499-EEFE-E01C85A5BAB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59" creationId="{F5D21DD5-0CCA-BA7E-F227-0BBAB406E32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78" creationId="{A3AC4A31-4D44-3815-B396-3E37C5C9243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89" creationId="{5BA28709-85EB-665D-9775-5D5E4373C38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90" creationId="{8F372BCB-8DEC-A35A-B0C7-42C0263A7FC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193" creationId="{289BF8B6-FDA5-DC7C-26AF-A5B5024AE191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34" creationId="{485E5EED-FC79-6FEC-069A-373A0DD1CB93}"/>
          </ac:spMkLst>
        </pc:spChg>
        <pc:spChg chg="del topLvl">
          <ac:chgData name="ajisha vm" userId="75d9e9c9-0067-4356-b55a-ce365df424e0" providerId="ADAL" clId="{FD896BAB-7E5F-42CC-AFD2-A27697842B1E}" dt="2024-09-23T05:47:10.074" v="18" actId="478"/>
          <ac:spMkLst>
            <pc:docMk/>
            <pc:sldMk cId="4138204391" sldId="257"/>
            <ac:spMk id="238" creationId="{69961449-DAC5-42D7-274D-4236548CA5C7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39" creationId="{138EE018-88C1-F6BB-9765-FCF3CB15AB41}"/>
          </ac:spMkLst>
        </pc:spChg>
        <pc:spChg chg="topLvl">
          <ac:chgData name="ajisha vm" userId="75d9e9c9-0067-4356-b55a-ce365df424e0" providerId="ADAL" clId="{FD896BAB-7E5F-42CC-AFD2-A27697842B1E}" dt="2024-09-23T05:47:10.074" v="18" actId="478"/>
          <ac:spMkLst>
            <pc:docMk/>
            <pc:sldMk cId="4138204391" sldId="257"/>
            <ac:spMk id="240" creationId="{2C5144DF-A89D-AF82-5309-9FE6D3D0A577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2" creationId="{134A13F1-79E3-3815-8D9E-23C21C4FCEB3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3" creationId="{7C04E735-18EF-2993-EB07-56640BFDEC7C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5" creationId="{88823CDC-6C5F-F9A2-FEC8-F96D294269B6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6" creationId="{10F689CE-CAC7-E882-5EED-7E202B51CBD2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7" creationId="{D889B195-BE18-D82F-16E4-8071BC3220F5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48" creationId="{1E289CF1-9BEB-1416-AEDF-DAD15D37E7EF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0" creationId="{206D6DCC-3A2B-B50F-0DBC-E398C241D01D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1" creationId="{7CE82BAC-8FAB-6659-0E09-FBC015FFBC18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2" creationId="{1C56B629-84FD-206D-362B-20BD52C3EC4B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3" creationId="{CD59FEA9-3418-4BE8-2608-2716A5EDEC7F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4" creationId="{D449AB98-A4A1-E6C8-0C94-AF1CE880EBAA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6" creationId="{E42F176E-0919-509B-FBE8-F2EA627960BF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7" creationId="{C277FD70-B5B2-F358-305E-19933259A08E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8" creationId="{4418E2BF-8088-3133-8300-5A1DFD7D921A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59" creationId="{7EA5B3AA-A7B7-0F6D-B3EC-91B026B47868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60" creationId="{98B237F6-F36F-3D98-A5F6-510CC32AD514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61" creationId="{D82E0A92-C9CC-832F-18EE-38C24EC1AA82}"/>
          </ac:spMkLst>
        </pc:spChg>
        <pc:spChg chg="mod">
          <ac:chgData name="ajisha vm" userId="75d9e9c9-0067-4356-b55a-ce365df424e0" providerId="ADAL" clId="{FD896BAB-7E5F-42CC-AFD2-A27697842B1E}" dt="2024-09-23T06:05:11.203" v="35" actId="165"/>
          <ac:spMkLst>
            <pc:docMk/>
            <pc:sldMk cId="4138204391" sldId="257"/>
            <ac:spMk id="262" creationId="{67A0F83E-FEF2-5568-30F4-BD35666D1F5A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3" creationId="{1E3AC68E-548A-9EE2-9D12-2CB160BB7F8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4" creationId="{4B92683D-036A-EDD4-6CF5-E462C00CAE30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5" creationId="{03B0E511-5E88-24B2-928F-B1C5B1F12653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6" creationId="{AB4696AE-3F24-590B-F3C2-0D5B3B506AF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7" creationId="{F33B39C5-4D82-B4DA-70F2-5D1B4B9973F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8" creationId="{A6A6721A-276F-44F2-A21D-0861DF97038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69" creationId="{912A15BD-820F-08C6-F187-9A29046F233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0" creationId="{CC6E3A3D-49EC-C045-0931-5FB9C818E008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1" creationId="{387FFFAC-17E6-79AA-023B-6BDC0BC5033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3" creationId="{83CCC772-DE84-11EF-065D-C23BA2B2D7A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4" creationId="{46E4F42C-FF29-202E-D446-46FE0C1CBA7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5" creationId="{B8A72404-6079-8A96-15E3-AD0C861645EE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6" creationId="{958AD78B-02F0-E701-A76D-29F6C2C7408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7" creationId="{B8999EF8-2C99-5CA6-DE84-1B9B5EDA54D8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8" creationId="{4F88D689-1B44-1A6E-0D8B-D028E02BA2CD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79" creationId="{59B374EE-B65A-B95C-3E82-DD618BD686F1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0" creationId="{485356AD-D6B5-2149-F7F6-C96F341F5E12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1" creationId="{0502816F-922D-73FE-32B0-D95C1550F98C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2" creationId="{68CC3C39-E1A3-0DE9-E1C9-92FE1756A177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3" creationId="{7FA809AE-25BB-F02D-652C-4C4243C9BBF6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4" creationId="{C38FAFED-7AC0-3E97-312E-A92AEDE95E3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5" creationId="{B7106B33-3115-64E2-F070-695A27A33C5F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6" creationId="{B56BBF0D-8AE1-788B-3BB2-AD38AD5ABB69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7" creationId="{83AF4E58-9282-0FC6-80D0-363A1972ABE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8" creationId="{F371066E-3579-1634-E558-9FB2E6BDE3E2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89" creationId="{B7A754E8-668B-7F9F-FABF-96379DD0C19A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0" creationId="{707A5F6F-B273-D2F5-072E-A22F53A51979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1" creationId="{EFF1C787-153D-0A30-A4BF-6A269AD6EE98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3" creationId="{88BDA37A-0F44-9C2A-4295-9458BCE63F5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4" creationId="{1E04F503-64F4-8F7C-0E72-2CD396D7295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5" creationId="{97CFE797-13F1-0F8B-1C66-43F380ADC45B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6" creationId="{87F0A523-EB03-4D03-C229-C35510CF5BF7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7" creationId="{A3F452B4-F87B-FB2F-6172-8DFEF6503A84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8" creationId="{144A5466-A1D3-4254-4159-A00F276D0A65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299" creationId="{5F30DD10-98A1-43C3-A64F-E23EBB90C4AA}"/>
          </ac:spMkLst>
        </pc:spChg>
        <pc:spChg chg="del mod topLvl">
          <ac:chgData name="ajisha vm" userId="75d9e9c9-0067-4356-b55a-ce365df424e0" providerId="ADAL" clId="{FD896BAB-7E5F-42CC-AFD2-A27697842B1E}" dt="2024-09-23T06:05:18.669" v="36" actId="478"/>
          <ac:spMkLst>
            <pc:docMk/>
            <pc:sldMk cId="4138204391" sldId="257"/>
            <ac:spMk id="300" creationId="{69266EE4-9160-B616-A9FD-AD0860392C6A}"/>
          </ac:spMkLst>
        </pc:spChg>
        <pc:grpChg chg="del mod">
          <ac:chgData name="ajisha vm" userId="75d9e9c9-0067-4356-b55a-ce365df424e0" providerId="ADAL" clId="{FD896BAB-7E5F-42CC-AFD2-A27697842B1E}" dt="2024-09-23T06:05:04.208" v="32" actId="165"/>
          <ac:grpSpMkLst>
            <pc:docMk/>
            <pc:sldMk cId="4138204391" sldId="257"/>
            <ac:grpSpMk id="6" creationId="{1105652A-5FF4-37B1-B5D8-315BED207C5A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7" creationId="{7000F379-DF58-3541-6E7D-E3664D5773CD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53" creationId="{DBB3E9E2-AEC9-E578-94C9-B4C1192B088B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111" creationId="{71D98EFA-81E6-333B-0AB1-22716478A133}"/>
          </ac:grpSpMkLst>
        </pc:grpChg>
        <pc:grpChg chg="del mod topLvl">
          <ac:chgData name="ajisha vm" userId="75d9e9c9-0067-4356-b55a-ce365df424e0" providerId="ADAL" clId="{FD896BAB-7E5F-42CC-AFD2-A27697842B1E}" dt="2024-09-23T06:05:18.669" v="36" actId="478"/>
          <ac:grpSpMkLst>
            <pc:docMk/>
            <pc:sldMk cId="4138204391" sldId="257"/>
            <ac:grpSpMk id="208" creationId="{BD673951-F727-D10C-D9A2-B334D57817D3}"/>
          </ac:grpSpMkLst>
        </pc:grpChg>
        <pc:grpChg chg="del">
          <ac:chgData name="ajisha vm" userId="75d9e9c9-0067-4356-b55a-ce365df424e0" providerId="ADAL" clId="{FD896BAB-7E5F-42CC-AFD2-A27697842B1E}" dt="2024-09-23T05:47:10.074" v="18" actId="478"/>
          <ac:grpSpMkLst>
            <pc:docMk/>
            <pc:sldMk cId="4138204391" sldId="257"/>
            <ac:grpSpMk id="241" creationId="{49396023-F252-2195-15E3-82341210EE18}"/>
          </ac:grpSpMkLst>
        </pc:grpChg>
        <pc:grpChg chg="del mod topLvl">
          <ac:chgData name="ajisha vm" userId="75d9e9c9-0067-4356-b55a-ce365df424e0" providerId="ADAL" clId="{FD896BAB-7E5F-42CC-AFD2-A27697842B1E}" dt="2024-09-23T06:05:18.669" v="36" actId="478"/>
          <ac:grpSpMkLst>
            <pc:docMk/>
            <pc:sldMk cId="4138204391" sldId="257"/>
            <ac:grpSpMk id="244" creationId="{30997E12-48F1-14AD-784F-CFD6BBF74378}"/>
          </ac:grpSpMkLst>
        </pc:grpChg>
        <pc:grpChg chg="del mod topLvl">
          <ac:chgData name="ajisha vm" userId="75d9e9c9-0067-4356-b55a-ce365df424e0" providerId="ADAL" clId="{FD896BAB-7E5F-42CC-AFD2-A27697842B1E}" dt="2024-09-23T06:05:18.669" v="36" actId="478"/>
          <ac:grpSpMkLst>
            <pc:docMk/>
            <pc:sldMk cId="4138204391" sldId="257"/>
            <ac:grpSpMk id="249" creationId="{53729163-BF47-DA78-1E74-FEDF3EAF01B5}"/>
          </ac:grpSpMkLst>
        </pc:grpChg>
        <pc:grpChg chg="del mod topLvl">
          <ac:chgData name="ajisha vm" userId="75d9e9c9-0067-4356-b55a-ce365df424e0" providerId="ADAL" clId="{FD896BAB-7E5F-42CC-AFD2-A27697842B1E}" dt="2024-09-23T06:05:18.669" v="36" actId="478"/>
          <ac:grpSpMkLst>
            <pc:docMk/>
            <pc:sldMk cId="4138204391" sldId="257"/>
            <ac:grpSpMk id="255" creationId="{3E04E6A3-29A6-17A2-F4E3-7E2674E3D4E8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272" creationId="{65AEAEB7-75AD-F4F0-23B6-D73B2A69E115}"/>
          </ac:grpSpMkLst>
        </pc:grpChg>
        <pc:grpChg chg="del mod topLvl">
          <ac:chgData name="ajisha vm" userId="75d9e9c9-0067-4356-b55a-ce365df424e0" providerId="ADAL" clId="{FD896BAB-7E5F-42CC-AFD2-A27697842B1E}" dt="2024-09-23T06:05:11.203" v="35" actId="165"/>
          <ac:grpSpMkLst>
            <pc:docMk/>
            <pc:sldMk cId="4138204391" sldId="257"/>
            <ac:grpSpMk id="292" creationId="{AD216F4B-A4E3-661D-289A-FB781853C4E7}"/>
          </ac:grpSpMkLst>
        </pc:grpChg>
        <pc:picChg chg="add del mod">
          <ac:chgData name="ajisha vm" userId="75d9e9c9-0067-4356-b55a-ce365df424e0" providerId="ADAL" clId="{FD896BAB-7E5F-42CC-AFD2-A27697842B1E}" dt="2024-09-23T06:04:51.114" v="31" actId="27803"/>
          <ac:picMkLst>
            <pc:docMk/>
            <pc:sldMk cId="4138204391" sldId="257"/>
            <ac:picMk id="5" creationId="{AA680F0D-3DA7-8212-B058-BF67BA156E11}"/>
          </ac:picMkLst>
        </pc:picChg>
        <pc:picChg chg="add del mod">
          <ac:chgData name="ajisha vm" userId="75d9e9c9-0067-4356-b55a-ce365df424e0" providerId="ADAL" clId="{FD896BAB-7E5F-42CC-AFD2-A27697842B1E}" dt="2024-09-23T06:06:12.304" v="45" actId="478"/>
          <ac:picMkLst>
            <pc:docMk/>
            <pc:sldMk cId="4138204391" sldId="257"/>
            <ac:picMk id="302" creationId="{0F67997F-D45B-921A-C3CA-55DCE26483B4}"/>
          </ac:picMkLst>
        </pc:picChg>
        <pc:picChg chg="add mod">
          <ac:chgData name="ajisha vm" userId="75d9e9c9-0067-4356-b55a-ce365df424e0" providerId="ADAL" clId="{FD896BAB-7E5F-42CC-AFD2-A27697842B1E}" dt="2024-09-23T06:06:13.554" v="46"/>
          <ac:picMkLst>
            <pc:docMk/>
            <pc:sldMk cId="4138204391" sldId="257"/>
            <ac:picMk id="303" creationId="{70768459-8631-734B-4A73-5563CD14312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C7ADFA-E0D6-45D7-9D88-1165CE068AB0}" type="datetimeFigureOut">
              <a:rPr lang="en-IN" smtClean="0"/>
              <a:t>21/10/26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1ED611-F729-4D3E-BEFC-1E1C56359E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5306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26915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14FA9-7287-B923-35C7-3186EA601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40BA1B-FFE8-5CB5-8009-D5B1CAA477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056DA9-BE68-1946-043B-43DA339EC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2D7FB-13FD-9620-9770-A7707504E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7719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16622-3FB5-AE26-9240-2B3EBCA03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E690B8-5252-65D9-F26B-4337B02F0A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2F5E4-AB33-21D4-30EB-3B2BF4382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3BF4-1D24-AAA1-C5AB-023A3D407D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7912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73968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88270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94099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1942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73553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74817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94113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64592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17942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41132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68443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0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798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36759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62545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30003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94CE-3E6F-C511-30DE-52D870A5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0747F0-E664-0061-8035-971F06CCD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52E3-5898-BED2-638D-849D017FB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A9DC8-D5A4-3284-5DE1-9B9E182B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0323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96A03-90B4-31FE-2862-FD39C7954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3BE893-B256-B630-C789-37759AE1E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BA31A-14D2-9F9C-3DE8-97D9C8A239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F15AEB-98A7-2775-BB4C-B944911CBF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64679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3EFCD-F415-11CA-DA2D-E4AEF2C29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10F4E0-3FE1-BEED-EE64-EAECF8194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56B1DF-52DE-FBB6-030B-0FC5721109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3EC2-A9D8-5639-42AD-51512FAB1C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80238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1EA37-10E0-259C-14D3-86D086F0A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12C8D1-CE7E-80ED-326A-9189CA8037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F846A-6084-4637-EE2D-E7498EBBC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FF3E5-4D67-37AA-E533-EFA63FAB7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72757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9E5CC-C10A-4FD1-427E-4C79A175E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6B2B4D-9729-78F5-8E76-3C1DFE697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F224F6-B890-E8A9-F66A-1F62E9283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140B8-5B91-52D5-7954-318715EE9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40802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15618-124E-2F03-0929-63EF5D8FF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AD5AFB-A1F9-7F9B-913D-B7FA05179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499753-7748-326C-F49A-D2349266F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F1F9C0-3F34-E74B-4A63-105E24DE2A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69153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476FF-BE13-6B77-76B9-EEE909DA6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42D85F-B438-9340-3009-89AD864FB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F17DF-9076-6B37-572B-737B65165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A72DC5-7D65-382C-FFD5-E3DA6F3C0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52085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67011-CED4-375D-F404-C03A17B60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C2B438-9539-EB5B-AB01-7C5810989E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995E96-B9B0-6338-082E-84F539CC79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77E42-E4DA-AA3D-0C68-7E4E5B6C0F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77310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9A074-9A7B-1136-9487-3469FE464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8D1170-EF11-B075-0ADD-FF00DB4D29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E74607-F534-6468-6DC7-DF1B8C1F45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0EEC3F-EBBE-9C76-AAD4-5BD131395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7028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09CAC-5179-05F1-F7B7-CB182D729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73978-0E5D-BF8D-0C2C-18200EC1F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CE56F9-AD13-5B74-93D3-D1B681B3A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C663D-4E96-4D1D-2A23-C1D0F3B6FB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00947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5D030-E0D3-EAF5-46EF-DC6EFEDF4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E705B-AD1A-6FB1-6FB7-846A78ABD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E726A-D10A-BF11-42E8-EB440C727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8E59D2-B67C-761C-A3BB-D93650B967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30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58388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C7F88-EA16-3D22-17B9-C70A91360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63A180-4C67-0AB9-7F12-ABD3466EEB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05626C-ABA3-8F60-08C5-30AFA9A5D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F6D9F-2E16-B6AF-EEA0-03D695676E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31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33159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EEAAA-B3BC-60FE-2452-302E3E05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E8B31B-184F-9F1D-4F7F-9DE558EFAA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2F9D4-2002-41B0-5F52-6B6D42A4CA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5EBE9-B529-BFBC-4024-39443BCECE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32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0295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6C4E3-8289-5921-EED4-22D69F807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BA9F4-99AF-EB57-10FB-BEC5FDF92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5DAFD4-3AA1-F5CE-810C-7250A4F3B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6AA93-9678-811A-8A73-BAB64740FC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33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599321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7419E-4682-7A18-6CB9-D045AD440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467B74-9081-DF53-65AA-8F34492140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96D076-D0B2-7402-D39B-FEBB1E842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96F138-84E1-999F-CF62-A2C5C8B1A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34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166704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F05D-F2CD-BC7E-C3C3-B834A0807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54B2CC-A023-D7E4-3FB5-FD2DC612B2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4CECE-916B-0F1C-B8CD-3D5F3DD4B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B3428-F0ED-052E-06E9-04A2FCCDE3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35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16653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9F77-B5BA-58E6-E3B2-41AB1A789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E49E6-0250-64D3-1672-2A09D5DB1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F49FD7-1144-A6BD-51BB-8427041438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347CE-25F3-DBC3-7D35-F083D07906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36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94401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3BD10-E97D-41BB-CD9D-7E30EE0FD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626048-3398-472A-192E-33E4FD7417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7B3C4C-B467-8380-4F11-074D8284C2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718295-E37F-9F9C-67C2-1822A18477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37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0734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BDAED-E70F-4E55-84AF-119EA7280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8DF06D-0416-A33E-D2F2-0566D9AB34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CBE34A-D636-4875-C561-B391D051D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C4E12F-58EA-BB4C-CC9D-865130ADFE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38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865062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1502D-CAEC-76C9-59CC-E8B535B06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CEF7CE-4355-5985-EDF6-DE757F08BE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01F361-D1B2-B3CF-42BA-A4BACFFFFC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94D68-0941-0FB1-6D98-D72C2E526C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325678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58A72-B35B-CD61-6CA1-8FB733140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2BAD3F-E8A7-5336-696A-36ACF3895D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29AEDE-7E54-F7F3-9A88-C380CE9AE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776C37-8937-CA4A-28CB-2372B4A273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40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172848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D952F-047B-2247-A787-F326E6853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B6E28-1C8F-7143-A883-B06E23B7B9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A2F35C-69F9-5D51-8F40-F77EBADDE0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8D529E-C17C-92BC-FBE5-6B44D2516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41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021658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C2BCF-4C93-F9E8-F28B-B840C566F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67F4B8-375A-106E-BD30-9FFC13C90A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407E3A-DFC6-0FCF-D420-5EFC2CFFC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B8C0C6-1C33-761C-53E1-CE8F639E77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42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509979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D7C26-AE77-6A3B-0BCC-A2F39E861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A75524-4837-93CF-D359-67BCB2E5E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155EC9-6943-9603-AA60-5118495A9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20870-8D1D-8C92-D396-2B5B9FDBC6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43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770055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8BDA0-DC3A-AFC7-9199-8B91E1CD8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3A8428-D5B4-F30C-AE4D-069C3D9B70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97911A-8B46-28F2-14A5-39E73DA78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2D69E7-4731-9E45-E2AD-60E0691ACB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44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64622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C7A76-E3FE-7225-06B2-60CCE10A8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3AC039-CEE9-684A-BFA6-54E73C1688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98B724-8010-9B94-CDDA-BB31F84086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B0478-9205-F2EB-8136-1B2D405C9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45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076964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21B7E-D7D5-CA95-B409-ABA4E5C11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AC67FB-B3E0-88B1-82C1-5D07D70B5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826FCF-67A2-2745-D0A8-AC0B81985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F84BA-9481-D637-B4A4-F1C4EAA7E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46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918511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3CB60-7674-EAC3-E953-6F48BB715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6E46A7-DBAB-C024-6750-43B576CE4C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F91CA-5059-904C-A68B-1F22332674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096B6-5280-E9A4-C601-5705C7BFDA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47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36670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E9F4F-85AA-F4E1-2895-EAE74ECE8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10A2D-5FAF-CC32-A427-079C8C8FD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4D433C-7F04-6D07-313F-E46FE0078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523A8E-5ABD-9AB0-25DC-226A87159D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48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244586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683C4-4A09-A1B4-B793-B46EEC3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76BF5-4253-F940-5FDB-CAB869680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DCB4FA-5BCB-91A1-7458-35F354F9E1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B52A8-1DF6-B22E-85B1-B220177FF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ED611-F729-4D3E-BEFC-1E1C56359ED3}" type="slidenum">
              <a:rPr lang="en-IN" smtClean="0"/>
              <a:t>49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6934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E6A1F-E8A2-BC81-F9E9-633CB61EBA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1CD3C0-AEC5-B8CA-94BB-7BF2E48AD6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48E7E7-E107-0A2C-8466-7A18371CE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22/10/26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D5B238-F884-FBFD-9EA1-7FD35473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91A70-D098-4B31-5F03-E0A3829A0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11700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F6DE-8BD5-94C5-C8E1-0B5E5537E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25377-4473-153F-9F5B-D79442309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93B80-9792-D46B-638A-415B9A68F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22/10/26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D0B451-D0D0-8318-1B4F-41E9D0A6F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D65900-3ECC-9D59-246A-5E5845303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8661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128B4-C28B-C566-0646-B88B1C58F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BFC85-261E-6A69-FC38-D43914EB3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96B8D3-26A1-0CF4-B600-6588A6541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22/10/26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850CE-6899-982D-572D-1043B8053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1B706-CB00-7DB7-6788-887456685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0453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B90BC-6FE4-8ABA-A041-2C0714D16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DAA1B-8CFD-74B6-F53C-AC7A416B6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89C2FA-A8E3-1A4D-0689-FAEB81B5BE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EEB3D9-BB52-9AC4-4D89-7D6389DB3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22/10/26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4DF8A9-2D4C-15BF-E464-FEC82598C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C6C26-CDE8-69A3-21BB-3A9391874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311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3F782-7D7A-5E98-2BBA-116CBD32D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456E36-8094-1CCB-5DF4-2FA3E64BCA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0BCABF-1DDA-D308-1539-B1000AEB2F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662AFE-40A6-B7A9-4B56-E36000EDD8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E57AAB-CA0E-DE18-151E-DFABE78E19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4D7029-DEB2-73E7-C984-210AB9C4C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22/10/26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F03F54-293C-8559-802E-175764657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DD1DE9-3331-82C6-874B-21BAFF826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3426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C3DB9-0F2D-7A99-F0F9-18AF7FE34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03435D-98A0-587C-1960-687207D4C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22/10/26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974558-11B4-2350-D2D4-EF10919EF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833525-03AF-B1CE-A64D-6C708CF55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2082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A1591A-84C3-7089-D9D3-1F367BE4A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22/10/26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B3955F-CB79-52D6-058A-B271B2BEC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E0C81-BA54-BFF9-CFA4-F81B2DE1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5182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50D37-3A6B-5CCA-CB91-871FDDD87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737B0-F57C-BD1D-AD2B-826E67781E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F067B3-8BB8-B965-AF2E-6F81560862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7F540-F2A1-E095-7F68-1D9674906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21/10/26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E44D2C-B838-3A3B-3267-014F1B6C2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13E48B-6B22-491C-2569-C127C3810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4305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153D9-5907-A104-28C2-C682F8F6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3A4866-2CAD-2E33-EAD4-159F2C01EC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6BE1F8-CDF0-5F06-4453-9CECE3DA2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2F0CA5-167A-1944-63D3-9B1F855E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22/10/26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A21F0-2C41-2E33-2E97-26559280D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4F6-7C71-3EDB-5070-608760223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2778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4CEDD-0699-C873-B6C0-924116D80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931FE1-8984-68B4-F2E7-6A9010654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7AA84-4D7A-62E9-6B5F-1B9E226CF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22/10/26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42BA9-B188-5F6E-DE59-B08EE8BA0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C7CDC-69E7-4F25-74BF-5E3F61A0D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5844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228698-7DCE-84FA-B51A-CCAF9908EE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72C05A-DD3E-C080-6001-7A26272B40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F720D-61B9-8FB5-19C6-54DA072DE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FDC1C-56EA-4B23-9E1D-42A946695629}" type="datetimeFigureOut">
              <a:rPr lang="en-IN" smtClean="0"/>
              <a:t>22/10/26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7BF41-787C-FCC4-2DAD-1D7E1D900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6C9B8A-C855-8AC0-8B94-A28FA69D6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4595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18D02-3772-7E25-E1B7-08D4B4F63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5F328E-B71F-2889-5227-C8C6ED6929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942A0-1C7A-C11D-E868-8E9E309930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6FDC1C-56EA-4B23-9E1D-42A946695629}" type="datetimeFigureOut">
              <a:rPr lang="en-IN" smtClean="0"/>
              <a:t>21/10/26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0B1E5-55EF-338A-0887-276E4E4FD6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0F1E-6612-1C22-E4FB-A80650036B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85D8C4-C5EF-4A96-8EA4-47FA4F4B9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0668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github.com/Niotx/advanced-IoT" TargetMode="Externa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1.png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2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A18762-F9BC-49D8-16BA-6566B2457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04DD6D-37AC-46C4-3230-FBB729558CF2}"/>
              </a:ext>
            </a:extLst>
          </p:cNvPr>
          <p:cNvSpPr/>
          <p:nvPr/>
        </p:nvSpPr>
        <p:spPr>
          <a:xfrm>
            <a:off x="6807540" y="218752"/>
            <a:ext cx="5100860" cy="3962400"/>
          </a:xfrm>
          <a:prstGeom prst="roundRect">
            <a:avLst>
              <a:gd name="adj" fmla="val 2534"/>
            </a:avLst>
          </a:prstGeom>
          <a:solidFill>
            <a:srgbClr val="18043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0C5CEE-60DA-0FE3-8B05-AD782889C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30" t="12083" r="56601" b="12083"/>
          <a:stretch>
            <a:fillRect/>
          </a:stretch>
        </p:blipFill>
        <p:spPr>
          <a:xfrm>
            <a:off x="304800" y="218751"/>
            <a:ext cx="4800600" cy="6400800"/>
          </a:xfrm>
          <a:prstGeom prst="roundRect">
            <a:avLst>
              <a:gd name="adj" fmla="val 3334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6F50C53-4FBA-D415-9605-22D46A41DA60}"/>
              </a:ext>
            </a:extLst>
          </p:cNvPr>
          <p:cNvSpPr/>
          <p:nvPr/>
        </p:nvSpPr>
        <p:spPr>
          <a:xfrm>
            <a:off x="6702214" y="4536426"/>
            <a:ext cx="5118355" cy="2321574"/>
          </a:xfrm>
          <a:prstGeom prst="roundRect">
            <a:avLst>
              <a:gd name="adj" fmla="val 5035"/>
            </a:avLst>
          </a:prstGeom>
          <a:solidFill>
            <a:srgbClr val="18043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F44CF18-9ED9-A411-1505-34F8BFA0A8D3}"/>
              </a:ext>
            </a:extLst>
          </p:cNvPr>
          <p:cNvSpPr/>
          <p:nvPr/>
        </p:nvSpPr>
        <p:spPr>
          <a:xfrm>
            <a:off x="5524152" y="-285892"/>
            <a:ext cx="830998" cy="5257800"/>
          </a:xfrm>
          <a:prstGeom prst="roundRect">
            <a:avLst/>
          </a:prstGeom>
          <a:solidFill>
            <a:srgbClr val="15032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4B81EC-DEEC-F366-2A6A-A7CE74A63008}"/>
              </a:ext>
            </a:extLst>
          </p:cNvPr>
          <p:cNvSpPr txBox="1"/>
          <p:nvPr/>
        </p:nvSpPr>
        <p:spPr>
          <a:xfrm rot="16200000">
            <a:off x="2990054" y="1590087"/>
            <a:ext cx="5848388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4000" b="1" i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NGT Training Department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5081760-12B3-8846-33FB-98BF999E2AE1}"/>
              </a:ext>
            </a:extLst>
          </p:cNvPr>
          <p:cNvSpPr txBox="1"/>
          <p:nvPr/>
        </p:nvSpPr>
        <p:spPr>
          <a:xfrm>
            <a:off x="7411453" y="5716752"/>
            <a:ext cx="4409116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Instructor</a:t>
            </a:r>
            <a:r>
              <a:rPr lang="fa-IR" sz="28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: </a:t>
            </a:r>
            <a:r>
              <a:rPr lang="en-US" sz="28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M.M.Naseri</a:t>
            </a:r>
            <a:endParaRPr lang="en-US" sz="2800" b="1" dirty="0">
              <a:solidFill>
                <a:schemeClr val="bg1">
                  <a:lumMod val="95000"/>
                </a:schemeClr>
              </a:solidFill>
              <a:latin typeface="Agency FB" panose="00010606040000040003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4CFFF3-4F09-CEDA-63D6-63A359CEE185}"/>
              </a:ext>
            </a:extLst>
          </p:cNvPr>
          <p:cNvSpPr txBox="1"/>
          <p:nvPr/>
        </p:nvSpPr>
        <p:spPr>
          <a:xfrm>
            <a:off x="6798599" y="4671953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8A2564-5FA6-49E3-5A31-8D1B1661F46B}"/>
              </a:ext>
            </a:extLst>
          </p:cNvPr>
          <p:cNvSpPr txBox="1"/>
          <p:nvPr/>
        </p:nvSpPr>
        <p:spPr>
          <a:xfrm>
            <a:off x="7411910" y="5329984"/>
            <a:ext cx="4409116" cy="5232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Duration : 120 min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6231" y="279795"/>
            <a:ext cx="3863092" cy="3863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3892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B148A4-1F4B-9639-0090-4F48BA94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3096AE-A3DB-D704-88C4-E5A5B7E5F2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65953FA-DB1E-4FBD-7908-15291FFB0F4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C08FB27D-72D6-1C55-0D98-22DDB8BABBFF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3B70F7D-57CC-6C24-0CFA-961C7502BE86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4D53800-CC88-3402-18E3-DC533889A3A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59EB71-29D0-1138-B84C-04FC420E1DB1}"/>
              </a:ext>
            </a:extLst>
          </p:cNvPr>
          <p:cNvSpPr txBox="1"/>
          <p:nvPr/>
        </p:nvSpPr>
        <p:spPr>
          <a:xfrm>
            <a:off x="1317459" y="2275275"/>
            <a:ext cx="5638800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This advanced </a:t>
            </a:r>
            <a:r>
              <a:rPr lang="en-US" sz="30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 course focuses on two core areas of modern </a:t>
            </a:r>
            <a:r>
              <a:rPr lang="en-US" sz="30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 systems: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175013-DA2E-43A3-9B6C-62A3419B965D}"/>
              </a:ext>
            </a:extLst>
          </p:cNvPr>
          <p:cNvSpPr txBox="1"/>
          <p:nvPr/>
        </p:nvSpPr>
        <p:spPr>
          <a:xfrm>
            <a:off x="1317459" y="3485605"/>
            <a:ext cx="7888704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Network &amp; Data </a:t>
            </a:r>
            <a:r>
              <a:rPr lang="en-US" sz="30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CommunicationAdvanced</a:t>
            </a:r>
            <a:endParaRPr lang="en-US" sz="3000" b="1" dirty="0">
              <a:solidFill>
                <a:srgbClr val="15032C"/>
              </a:solidFill>
              <a:latin typeface="Agency FB" panose="00010606040000040003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Firmware, Middleware &amp; Edge Computing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3F0BFC5-A185-8446-22ED-235F6C41FFBB}"/>
              </a:ext>
            </a:extLst>
          </p:cNvPr>
          <p:cNvSpPr txBox="1"/>
          <p:nvPr/>
        </p:nvSpPr>
        <p:spPr>
          <a:xfrm>
            <a:off x="1317459" y="4695935"/>
            <a:ext cx="6797841" cy="193899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The course moves beyond basic electronics and microcontroller fundamentals, focusing on reliability, scalability, security, and real-world </a:t>
            </a:r>
            <a:r>
              <a:rPr lang="en-US" sz="30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rgbClr val="15032C"/>
                </a:solidFill>
                <a:latin typeface="Agency FB" panose="00010606040000040003" pitchFamily="2" charset="0"/>
              </a:rPr>
              <a:t> deployment.</a:t>
            </a:r>
          </a:p>
        </p:txBody>
      </p:sp>
      <p:sp>
        <p:nvSpPr>
          <p:cNvPr id="3" name="Rectangle 2"/>
          <p:cNvSpPr/>
          <p:nvPr/>
        </p:nvSpPr>
        <p:spPr>
          <a:xfrm>
            <a:off x="860259" y="1334281"/>
            <a:ext cx="6096000" cy="76944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4400" b="1" dirty="0">
                <a:solidFill>
                  <a:srgbClr val="15032C"/>
                </a:solidFill>
                <a:latin typeface="Agency FB" panose="00010606040000040003" pitchFamily="2" charset="0"/>
              </a:rPr>
              <a:t>Course Overview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7534" y="3760664"/>
            <a:ext cx="4504466" cy="253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884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6781F-7114-535F-7588-4DFD0EB02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55E13BB-485F-11F8-8456-6CCDBE75DE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62403AD-C896-B34F-30CE-C41C700CCD80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A6632873-0D87-CCCA-207F-A374A97A6714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0662C45-4B60-0DFA-23D6-8E4311F48381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194A607-CB79-4EC7-B239-42B4BB4666CC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A18B0B-6461-196A-AA62-E3D615125056}"/>
              </a:ext>
            </a:extLst>
          </p:cNvPr>
          <p:cNvSpPr txBox="1"/>
          <p:nvPr/>
        </p:nvSpPr>
        <p:spPr>
          <a:xfrm>
            <a:off x="847562" y="1326696"/>
            <a:ext cx="645493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Course Modules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01F0B68-A5F8-88CD-C035-0E59521852C6}"/>
              </a:ext>
            </a:extLst>
          </p:cNvPr>
          <p:cNvSpPr txBox="1"/>
          <p:nvPr/>
        </p:nvSpPr>
        <p:spPr>
          <a:xfrm>
            <a:off x="1611320" y="2183223"/>
            <a:ext cx="655653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1. Network Layer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C26CC2-1D2E-8BF8-1EED-CBE8CE62790D}"/>
              </a:ext>
            </a:extLst>
          </p:cNvPr>
          <p:cNvSpPr txBox="1"/>
          <p:nvPr/>
        </p:nvSpPr>
        <p:spPr>
          <a:xfrm>
            <a:off x="1611319" y="2692431"/>
            <a:ext cx="6556537" cy="830997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Communication </a:t>
            </a: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ProtocolsLPWAN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&amp; Cellular </a:t>
            </a: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NetworksIoT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Network Security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280A84-34DC-1218-891B-74CDC648CC6E}"/>
              </a:ext>
            </a:extLst>
          </p:cNvPr>
          <p:cNvSpPr txBox="1"/>
          <p:nvPr/>
        </p:nvSpPr>
        <p:spPr>
          <a:xfrm>
            <a:off x="1611319" y="4242832"/>
            <a:ext cx="7868557" cy="193899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Professional Firmware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ArchitectureRaspberry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Pi &amp; Remote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AccessData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&amp; Telemetry Management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OTA Updates &amp; Maintenance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Hands-on </a:t>
            </a:r>
            <a:r>
              <a:rPr lang="en-US" sz="24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 Workshop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E366C50-5B90-5C81-BCC8-AA5DEACD196D}"/>
              </a:ext>
            </a:extLst>
          </p:cNvPr>
          <p:cNvSpPr txBox="1"/>
          <p:nvPr/>
        </p:nvSpPr>
        <p:spPr>
          <a:xfrm>
            <a:off x="1611319" y="3716501"/>
            <a:ext cx="6556537" cy="46166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2. Firmware &amp; Edge Computing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42ECCAF-938B-BB93-528A-320AEAA7A1A1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322703">
            <a:off x="8113213" y="4016246"/>
            <a:ext cx="3527159" cy="198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2061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Learning by Solving Real-World Problems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This course follows a Problem-Solving Approach, where engineering concepts are introduced through practical challenges.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872546"/>
            <a:ext cx="10318522" cy="163121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Problem Definition: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Identify the problem and system requirements.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Solution Design: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Explore technologies and make engineering decisions.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Implementation: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Develop and integrate hardware and software components.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Testing &amp; Debugging: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Identify issues, validate solutions, and improve reliability.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Final Product: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Build a functional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system.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4598481"/>
            <a:ext cx="8836804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Learning Format: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Conceptual explanations through presentations, followed by recorded and edited hands-on demonstrations.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9672" y="4533873"/>
            <a:ext cx="2286198" cy="228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322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Course Materials &amp; Resources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40011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All course materials are organized in a dedicated GitHub repository.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566965"/>
            <a:ext cx="10318522" cy="224676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Course Handbook: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A step-by-step guide covering practical procedures, commands, and configurations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Practical Examples: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Independent project folders containing source code and dedicated README documentation.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Presentation Slides: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Course presentations will be available in the repository.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Video Demonstrations: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Practical implementations, coding sessions, and hardware testing are presented in edited lesson videos.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7EF3E34-5C58-11DE-AFA9-6CB6D1B40749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7570" y="4573570"/>
            <a:ext cx="2284429" cy="22844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226308" y="5219235"/>
            <a:ext cx="8836804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GitHub Repository:</a:t>
            </a: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  <a:hlinkClick r:id="rId5"/>
              </a:rPr>
              <a:t>https://github.com/Niotx/advanced-IoT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232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Hardware &amp; Development Platform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This course uses a compact set of practical hardware components for sensing, local display, embedded programming, and edge-side processing.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874741"/>
            <a:ext cx="7715425" cy="255454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ESP32 </a:t>
            </a:r>
            <a:r>
              <a:rPr lang="en-US" sz="2000" b="1" dirty="0" err="1">
                <a:solidFill>
                  <a:srgbClr val="15032C"/>
                </a:solidFill>
                <a:latin typeface="Dosis" pitchFamily="2" charset="0"/>
              </a:rPr>
              <a:t>DevKit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V1 — Main microcontroller platform for embedded </a:t>
            </a:r>
            <a:r>
              <a:rPr lang="en-US" sz="20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development  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DHT22 Sensor — Temperature and humidity sensing module  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0.96" SSD1306 OLED Display — I2C display for local monitoring and feedback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Raspberry Pi 4 Model B (4GB RAM) — Edge device for communication, processing, and service hosting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5510394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These components form the core hardware platform used throughout the course.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5107" y="4456846"/>
            <a:ext cx="2107096" cy="210709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9762" y="2777827"/>
            <a:ext cx="1769165" cy="176916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189843" y="3034125"/>
            <a:ext cx="1133061" cy="113306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165107" y="2886298"/>
            <a:ext cx="1428713" cy="1428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1820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Our Engineering Challenge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113877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Problem Statement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An equipment room requires a smart environmental monitoring system to measure temperature and humidity, display real-time readings, and provide remote access to sensor data.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3326089"/>
            <a:ext cx="7715425" cy="212365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Initial Requirements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Environmental Sensing: Measure temperature and humidity using a DHT22 sensor.</a:t>
            </a:r>
            <a:endParaRPr lang="fa-IR" sz="1600" b="1" dirty="0">
              <a:solidFill>
                <a:srgbClr val="15032C"/>
              </a:solidFill>
              <a:latin typeface="Dosis" pitchFamily="2" charset="0"/>
            </a:endParaRP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Local Monitoring: Display real-time measurements on an OLED screen.</a:t>
            </a:r>
            <a:endParaRPr lang="fa-IR" sz="1600" b="1" dirty="0">
              <a:solidFill>
                <a:srgbClr val="15032C"/>
              </a:solidFill>
              <a:latin typeface="Dosis" pitchFamily="2" charset="0"/>
            </a:endParaRP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Remote Monitoring: Transmit sensor data to a Raspberry Pi over a network.</a:t>
            </a:r>
            <a:endParaRPr lang="fa-IR" sz="1600" b="1" dirty="0">
              <a:solidFill>
                <a:srgbClr val="15032C"/>
              </a:solidFill>
              <a:latin typeface="Dosis" pitchFamily="2" charset="0"/>
            </a:endParaRP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System Integration: Connect hardware, firmware, and communication components into a functional </a:t>
            </a:r>
            <a:r>
              <a:rPr lang="en-US" sz="16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 system.</a:t>
            </a:r>
            <a:endParaRPr 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5567122"/>
            <a:ext cx="7119077" cy="89255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The Engineering Question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How can we transform a simple sensor-based device into a reliable, connected, and maintainable </a:t>
            </a:r>
            <a:r>
              <a:rPr lang="en-US" sz="16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 system?</a:t>
            </a:r>
            <a:endParaRPr 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6191" y="3858508"/>
            <a:ext cx="2999492" cy="29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0840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System Requirements &amp; Initial Architecture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Before writing code, we break the engineering challenge into clear requirements and define the first system architecture.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874741"/>
            <a:ext cx="7715425" cy="264687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Functional Requirements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Measure temperature and humidity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Display live readings locally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Prepare the system for future remote monitoring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Engineering Constraints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Use low-cost, available hardware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Keep the first version simple and testable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Detect invalid sensor readings- Design the firmware to be extendable</a:t>
            </a: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5510394"/>
            <a:ext cx="7119077" cy="40011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DHT22 → ESP32 → SSD1306 OLED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5997" y="4367295"/>
            <a:ext cx="2286198" cy="228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18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Hardware Integration &amp; Wiring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The first prototype connects the sensor and display directly to the ESP32 using simple, testable wiring.</a:t>
            </a:r>
            <a:endParaRPr lang="en-US" sz="16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874741"/>
            <a:ext cx="7715425" cy="150810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Wiring</a:t>
            </a:r>
            <a:endParaRPr lang="fa-IR" sz="1600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DHT22 DATA → ESP32 GPIO4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OLED SDA → ESP32 GPIO21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OLED SCL → ESP32 GPIO22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VCC / GND → 3.3V / GND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6191" y="3858508"/>
            <a:ext cx="2999492" cy="299949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70766" y="4479760"/>
            <a:ext cx="6096000" cy="150810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Engineering Notes-</a:t>
            </a:r>
            <a:endParaRPr lang="fa-IR" sz="1600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OLED uses I2C communication.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DHT22 uses a single data line.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 bare DHT22 may need a 10kΩ pull-up resistor.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Common OLED I2C address: 0x3C</a:t>
            </a:r>
            <a:r>
              <a:rPr lang="fa-IR" b="1" dirty="0">
                <a:solidFill>
                  <a:srgbClr val="15032C"/>
                </a:solidFill>
                <a:latin typeface="Dosis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39120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Reading &amp; Displaying Sensor Data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The firmware reads environmental data from the DHT22 sensor and updates both the OLED display and Serial Monitor.</a:t>
            </a:r>
            <a:endParaRPr lang="en-US" sz="16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776923"/>
            <a:ext cx="7715425" cy="178510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Firmware Flow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Initialize I2C, DHT22, and OLED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Read temperature and humidity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Check for invalid sensor readings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Show values on the OLED display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Print readings to Serial Monitor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70766" y="4590974"/>
            <a:ext cx="6096000" cy="178510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Key Functions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dht.readTemperature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()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dht.readHumidity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()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isnan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()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display.clearDisplay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()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display.display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()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dht.readTemperature()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9672" y="4590974"/>
            <a:ext cx="2438611" cy="1950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1807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Validation &amp; Error Handling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 prototype is only useful when we can test it, detect failures, and understand what went wrong.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42198" y="2874741"/>
            <a:ext cx="7715425" cy="320087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Validation Steps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Check OLED startup message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Verify temperature and humidity values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Compare OLED output with Serial Monitor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Disconnect the sensor and observe the error state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Error Handling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Detect invalid readings using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isnan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()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Show Sensor Error on the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OLEDPrint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error messages to Serial Monitor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Keep the system running safely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42198" y="5818588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Testing failure cases is part of building an engineering product, not an optional step.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0787" y="4475179"/>
            <a:ext cx="2085013" cy="209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172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The Need for Remote Communication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7" y="2069941"/>
            <a:ext cx="8232260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Local monitoring works, but the user still needs to be physically near the device. The next engineering challenge is making sensor data accessible over the network.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42198" y="3284992"/>
            <a:ext cx="7715425" cy="150810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Why Local Monitoring Is Not Enough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Data is only visible on the OLED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No remote access to measurements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No history or external processing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No way to connect the device to other services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970441" y="4992485"/>
            <a:ext cx="7119077" cy="163121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Send temperature and humidity data from the ESP32 to a Raspberry Pi over the network.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Networking turns a local sensor device into a connected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system.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322703">
            <a:off x="8532312" y="4353887"/>
            <a:ext cx="3527159" cy="198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401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Understanding </a:t>
            </a:r>
            <a:r>
              <a:rPr lang="en-US" sz="36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IoT</a:t>
            </a: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 Communication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7" y="2069941"/>
            <a:ext cx="8232260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Before choosing a protocol, we need to understand how devices exchange data in an </a:t>
            </a:r>
            <a:r>
              <a:rPr lang="en-US" sz="20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system.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7" y="2928463"/>
            <a:ext cx="7715425" cy="120032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Device to Server: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ESP32 sends data directly to a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Device to Broker: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ESP32 publishes data through a message broker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Request / Response: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One device asks, another responds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Publish / Subscribe: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Devices communicate through topics</a:t>
            </a:r>
            <a:endParaRPr lang="fa-IR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7" y="4279428"/>
            <a:ext cx="7119077" cy="132343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Should the ESP32 send data directly to the Raspberry Pi, or publish it through a communication layer?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The communication model affects scalability, reliability, and how easily other services can use the data.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950127">
            <a:off x="6781761" y="4144554"/>
            <a:ext cx="5182360" cy="2916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1336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MQTT vs HTTP/HTTPS vs </a:t>
            </a:r>
            <a:r>
              <a:rPr lang="en-US" sz="36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CoAP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Different </a:t>
            </a:r>
            <a:r>
              <a:rPr lang="en-US" sz="20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protocols solve different communication problems. The right choice depends on device limits, network conditions, and data flow.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42198" y="2874741"/>
            <a:ext cx="7715425" cy="206210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Protocol Comparison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HTTP/HTTPS: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Simple request/response model, good for APIs and direct server communication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MQTT: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Lightweight publish/subscribe model, ideal for continuous telemetry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CoAP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: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Lightweight request/response model, designed for constrained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IoT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 devices</a:t>
            </a:r>
            <a:endParaRPr lang="fa-IR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5033758"/>
            <a:ext cx="71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For this project, MQTT is the best fit because the ESP32 needs to publish sensor data continuously to a Raspberry Pi.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42198" y="6049421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Protocol selection is an engineering decision, not a fixed rule.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8983" y="3951978"/>
            <a:ext cx="3439343" cy="229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993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Choosing the Right Protocol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1973027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For this project, the ESP32 needs to send small sensor readings repeatedly to a local edge device.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42198" y="2934163"/>
            <a:ext cx="7715425" cy="178510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Decision Criteria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Low communication overhead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Continuous telemetry support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Easy data distribution to multiple subscribers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Simple integration with Raspberry Pi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Suitable for future monitoring and debugging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4876512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Use MQTT with the Raspberry Pi acting as the local broker and data receiver.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42198" y="5680403"/>
            <a:ext cx="71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MQTT is selected because it matches our telemetry pattern, not because it is always better than HTTP or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CoAP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</a:rPr>
              <a:t>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979" y="4353340"/>
            <a:ext cx="4162157" cy="234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6980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ESP32 vs Raspberry Pi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1992426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The ESP32 and Raspberry Pi are both used in this project, but they solve different engineering problems.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4279385"/>
            <a:ext cx="4355999" cy="200054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ESP32 — Microcontroller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Reads sensors directly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Controls local hardware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Runs embedded firmware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Low power and real-time oriented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6333629"/>
            <a:ext cx="8538906" cy="40011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ESP32 is the sensor node. Raspberry Pi is the local edge computer.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2352743" y="2784979"/>
            <a:ext cx="1394636" cy="139463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5426765" y="4279385"/>
            <a:ext cx="6042993" cy="169277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15032C"/>
                </a:solidFill>
                <a:latin typeface="Dosis" pitchFamily="2" charset="0"/>
              </a:rPr>
              <a:t>Raspberry Pi — Single Board Computer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Runs a full operating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Hosts services like MQTT broker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Processes and stores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Supports remote access and automation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8048" y="2418862"/>
            <a:ext cx="2109399" cy="210939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113507" y="3064650"/>
            <a:ext cx="76692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rgbClr val="15032C"/>
                </a:solidFill>
                <a:latin typeface="Agency FB" panose="00010606040000040003" pitchFamily="2" charset="0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36555430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371" y="5023465"/>
            <a:ext cx="4114562" cy="290673"/>
          </a:xfrm>
          <a:prstGeom prst="rect">
            <a:avLst/>
          </a:prstGeom>
          <a:solidFill>
            <a:schemeClr val="tx2"/>
          </a:solidFill>
          <a:ln>
            <a:solidFill>
              <a:schemeClr val="bg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Raspberry Pi OS &amp; SSH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1973027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To use the Raspberry Pi as an edge device, we first prepare its operating system and enable remote access.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42198" y="2934163"/>
            <a:ext cx="7715425" cy="178510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Setup Steps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Flash Raspberry Pi 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Configure username, password, and Wi-Fi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Enable SSH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Boot the Raspberry Pi on the local network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Connect from the Mac terminal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5563810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SSH allows us to configure and control the Raspberry Pi without connecting a monitor or keyboard.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340371" y="4972517"/>
            <a:ext cx="7119077" cy="40011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ssh 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username@raspberrypi.local</a:t>
            </a:r>
            <a:endParaRPr lang="en-US" sz="2000" b="1" dirty="0">
              <a:solidFill>
                <a:schemeClr val="bg1"/>
              </a:solidFill>
              <a:latin typeface="Dosis" pitchFamily="2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0904" y="3896067"/>
            <a:ext cx="4221096" cy="237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7572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8333" y="5433201"/>
            <a:ext cx="4137338" cy="117844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Network Configuration &amp; Secure Access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1973027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The Raspberry Pi must be reachable, stable, and protected before it can work as an </a:t>
            </a:r>
            <a:r>
              <a:rPr lang="en-US" sz="2000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edge device.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7" y="3002923"/>
            <a:ext cx="4097582" cy="178510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Network Setup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Find the Raspberry Pi IP address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Configure a stable hostname or Static 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Test SSH access from the Mac terminal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468332" y="5433202"/>
            <a:ext cx="71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hostname -I</a:t>
            </a:r>
          </a:p>
          <a:p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ssh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username@raspberrypi.local</a:t>
            </a:r>
            <a:endParaRPr lang="en-US" sz="2000" b="1" dirty="0">
              <a:solidFill>
                <a:schemeClr val="bg1"/>
              </a:solidFill>
              <a:latin typeface="Dosis" pitchFamily="2" charset="0"/>
            </a:endParaRPr>
          </a:p>
          <a:p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sudo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ufw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status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7425" y="4362794"/>
            <a:ext cx="2999492" cy="240203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5776499" y="3002923"/>
            <a:ext cx="3520926" cy="261610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Secure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Use SSH key authentication instead of passwords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Disable root login with password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Optionally change the default SSH 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Enable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ufw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and close unnecessary ports</a:t>
            </a:r>
          </a:p>
        </p:txBody>
      </p:sp>
    </p:spTree>
    <p:extLst>
      <p:ext uri="{BB962C8B-B14F-4D97-AF65-F5344CB8AC3E}">
        <p14:creationId xmlns:p14="http://schemas.microsoft.com/office/powerpoint/2010/main" val="2939571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2390" y="4887501"/>
            <a:ext cx="5663675" cy="86108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01657" y="4863614"/>
            <a:ext cx="5645030" cy="132343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Installing the MQTT Broker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1973027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Now the Raspberry Pi becomes the local communication hub by running an MQTT broker.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801512"/>
            <a:ext cx="4097582" cy="206210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Broker Setup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Install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Mosquitto</a:t>
            </a:r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Enable the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Mosquitto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Test local publish/subscribe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Prepare network access for ESP32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Keep authentication and firewall rules in mind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6170120" y="4905992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mosquitto_sub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-t test/topic</a:t>
            </a:r>
          </a:p>
          <a:p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mosquitto_pub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-t test/topic -m "Hello MQTT"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514175" y="4863614"/>
            <a:ext cx="7119077" cy="132343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sudo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apt update</a:t>
            </a:r>
          </a:p>
          <a:p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sudo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apt install 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mosquitto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mosquitto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-clients</a:t>
            </a:r>
          </a:p>
          <a:p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sudo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systemctl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enable 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mosquitto</a:t>
            </a:r>
            <a:endParaRPr lang="en-US" sz="2000" b="1" dirty="0">
              <a:solidFill>
                <a:schemeClr val="bg1"/>
              </a:solidFill>
              <a:latin typeface="Dosis" pitchFamily="2" charset="0"/>
            </a:endParaRPr>
          </a:p>
          <a:p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sudo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systemctl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status 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mosquitto</a:t>
            </a:r>
            <a:endParaRPr lang="en-US" sz="2000" b="1" dirty="0">
              <a:solidFill>
                <a:schemeClr val="bg1"/>
              </a:solidFill>
              <a:latin typeface="Dosis" pitchFamily="2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9436" y="3144761"/>
            <a:ext cx="3176629" cy="1626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3491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755-A949-075B-D487-D675EC389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5EBC7A-FE00-72FA-7634-1D71FA39D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1E0240C-37DB-AC14-5A59-776C84BD078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3822F64-28AC-4792-5437-86F8E3C70B5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146502-5E0C-1558-220F-AA3636EBD5E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8BDFBE-131F-6DBB-16C1-2AB82BF2D02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CE6B46-B3E2-BB71-8288-D33D73CF337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MQTT Architecture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BD2A35-A798-4DF3-9B70-B1FC1B51E20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MQTT uses a broker-based architecture where devices do not communicate directly with each other.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A18BC5-2A11-7C0D-8B44-C7F635AF51AB}"/>
              </a:ext>
            </a:extLst>
          </p:cNvPr>
          <p:cNvSpPr txBox="1"/>
          <p:nvPr/>
        </p:nvSpPr>
        <p:spPr>
          <a:xfrm>
            <a:off x="1070766" y="2874741"/>
            <a:ext cx="7715425" cy="150810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Core Components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Publisher: ESP32 sends sensor data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Broker: Raspberry Pi receives and routes messages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Subscriber: Laptop, Python script, or dashboard receives data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Topic: Message channel, such as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iot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/room-01/telemetry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6" y="5510394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MQTT separates data producers from data consumers, making the system easier to extend and monitor.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D1FE80-97F3-47D7-14EC-D12189DC96CC}"/>
              </a:ext>
            </a:extLst>
          </p:cNvPr>
          <p:cNvSpPr txBox="1"/>
          <p:nvPr/>
        </p:nvSpPr>
        <p:spPr>
          <a:xfrm>
            <a:off x="1070765" y="4927299"/>
            <a:ext cx="7119077" cy="40011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ESP32 → MQTT Broker → Subscribers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0764" y="3717896"/>
            <a:ext cx="4297815" cy="241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237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18F225-44B0-43B6-9D28-1370AD12D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082F20E-B3D5-D29C-7E6D-80E04589BD5B}"/>
              </a:ext>
            </a:extLst>
          </p:cNvPr>
          <p:cNvSpPr/>
          <p:nvPr/>
        </p:nvSpPr>
        <p:spPr>
          <a:xfrm>
            <a:off x="976654" y="5521836"/>
            <a:ext cx="2874584" cy="7296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15765B-8CEE-D596-2623-2E29F148D4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4F722D6-6B87-FCD0-143F-C549C64232A9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4ED6D5D6-F4B8-EFDE-A6CB-D31A3CC51CB7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5D12376-4F1E-9AFA-7FC5-7D602A12A936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26CF7AF-30EB-997D-8535-1AB1940DC8BB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7E7000E-3B25-EAFD-0513-CCBE889F45B0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MQTT QoS, Retain &amp; Last Will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D191C32-02FC-9B4C-0427-8DB2E526789E}"/>
              </a:ext>
            </a:extLst>
          </p:cNvPr>
          <p:cNvSpPr txBox="1"/>
          <p:nvPr/>
        </p:nvSpPr>
        <p:spPr>
          <a:xfrm>
            <a:off x="1070766" y="1973027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MQTT provides message delivery and status features that help make IoT communication more predictable.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D33FCAB-577C-66F5-B9E3-A2BFA63D4FBD}"/>
              </a:ext>
            </a:extLst>
          </p:cNvPr>
          <p:cNvSpPr txBox="1"/>
          <p:nvPr/>
        </p:nvSpPr>
        <p:spPr>
          <a:xfrm>
            <a:off x="1070766" y="2680913"/>
            <a:ext cx="6965196" cy="233910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MQTT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QoS 0: Send once, no delivery confirmation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QoS 1: At least once delivery, duplicates are possible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QoS 2: Exactly once delivery at MQTT protocol level, with more overhead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Retained Message: Broker stores the last message for a topic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Last Will: Broker publishes a status message if the device disconnects unexpectedly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0608E6-877D-0545-2DEA-BD96B96D9A01}"/>
              </a:ext>
            </a:extLst>
          </p:cNvPr>
          <p:cNvSpPr txBox="1"/>
          <p:nvPr/>
        </p:nvSpPr>
        <p:spPr>
          <a:xfrm>
            <a:off x="1137339" y="5521836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/room-01/telemetry</a:t>
            </a:r>
          </a:p>
          <a:p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/room-01/status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F57E10-2FE6-BEF5-83C0-C99746CE75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5770" y="4491927"/>
            <a:ext cx="3549110" cy="236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965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07C90E-05C3-7A6B-3E38-EE36765F2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2D8DA96-DA99-B012-2BB2-69279D993DC0}"/>
              </a:ext>
            </a:extLst>
          </p:cNvPr>
          <p:cNvSpPr/>
          <p:nvPr/>
        </p:nvSpPr>
        <p:spPr>
          <a:xfrm>
            <a:off x="1366600" y="2699739"/>
            <a:ext cx="4356468" cy="175432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7AC9DC-0D33-C21B-190B-82026A7D02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0C63C86-A314-107E-6514-3FFC38DF5789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CDE4AE6-B0FE-BF71-8892-FB663590CF3A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E078923-211B-AE0D-480B-5A0F45924518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095D55D-99CF-75D6-D36D-FE0194A7320D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783BA69-D01F-7523-4554-CFD760A013DA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Telemetry &amp; Message Structure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EE4AD8-DD83-4169-27F3-BE3F866172A0}"/>
              </a:ext>
            </a:extLst>
          </p:cNvPr>
          <p:cNvSpPr txBox="1"/>
          <p:nvPr/>
        </p:nvSpPr>
        <p:spPr>
          <a:xfrm>
            <a:off x="1070766" y="1973027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Before sending data, we need a clear message structure that describes what was measured, where it came from, and when it was created.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120698F-DD9D-6EDA-FC1B-8A775C776699}"/>
              </a:ext>
            </a:extLst>
          </p:cNvPr>
          <p:cNvSpPr txBox="1"/>
          <p:nvPr/>
        </p:nvSpPr>
        <p:spPr>
          <a:xfrm>
            <a:off x="1047381" y="4689477"/>
            <a:ext cx="6965196" cy="147732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Use clear topic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Include device identity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Send structured data using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Add timestamps for better tracking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Keep messages small and readable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C288A3-A9FC-305C-0FFF-CA0C80BD237B}"/>
              </a:ext>
            </a:extLst>
          </p:cNvPr>
          <p:cNvSpPr txBox="1"/>
          <p:nvPr/>
        </p:nvSpPr>
        <p:spPr>
          <a:xfrm>
            <a:off x="1527965" y="2737601"/>
            <a:ext cx="7119077" cy="175432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r>
              <a:rPr lang="en-US" dirty="0">
                <a:solidFill>
                  <a:schemeClr val="bg1"/>
                </a:solidFill>
              </a:rPr>
              <a:t>  "</a:t>
            </a:r>
            <a:r>
              <a:rPr lang="en-US" dirty="0" err="1">
                <a:solidFill>
                  <a:schemeClr val="bg1"/>
                </a:solidFill>
              </a:rPr>
              <a:t>device_id</a:t>
            </a:r>
            <a:r>
              <a:rPr lang="en-US" dirty="0">
                <a:solidFill>
                  <a:schemeClr val="bg1"/>
                </a:solidFill>
              </a:rPr>
              <a:t>": "</a:t>
            </a:r>
            <a:r>
              <a:rPr lang="en-US" dirty="0">
                <a:solidFill>
                  <a:srgbClr val="FFFF00"/>
                </a:solidFill>
              </a:rPr>
              <a:t>esp32-room-01</a:t>
            </a:r>
            <a:r>
              <a:rPr lang="en-US" dirty="0">
                <a:solidFill>
                  <a:schemeClr val="bg1"/>
                </a:solidFill>
              </a:rPr>
              <a:t>",</a:t>
            </a:r>
          </a:p>
          <a:p>
            <a:r>
              <a:rPr lang="en-US" dirty="0">
                <a:solidFill>
                  <a:schemeClr val="bg1"/>
                </a:solidFill>
              </a:rPr>
              <a:t>  "temperature": </a:t>
            </a:r>
            <a:r>
              <a:rPr lang="en-US" dirty="0">
                <a:solidFill>
                  <a:srgbClr val="FFC000"/>
                </a:solidFill>
              </a:rPr>
              <a:t>24.6</a:t>
            </a:r>
            <a:r>
              <a:rPr lang="en-US" dirty="0">
                <a:solidFill>
                  <a:schemeClr val="bg1"/>
                </a:solidFill>
              </a:rPr>
              <a:t>,</a:t>
            </a:r>
          </a:p>
          <a:p>
            <a:r>
              <a:rPr lang="en-US" dirty="0">
                <a:solidFill>
                  <a:schemeClr val="bg1"/>
                </a:solidFill>
              </a:rPr>
              <a:t>  "humidity": </a:t>
            </a:r>
            <a:r>
              <a:rPr lang="en-US" dirty="0">
                <a:solidFill>
                  <a:srgbClr val="FFC000"/>
                </a:solidFill>
              </a:rPr>
              <a:t>42.8</a:t>
            </a:r>
            <a:r>
              <a:rPr lang="en-US" dirty="0">
                <a:solidFill>
                  <a:schemeClr val="bg1"/>
                </a:solidFill>
              </a:rPr>
              <a:t>,</a:t>
            </a:r>
          </a:p>
          <a:p>
            <a:r>
              <a:rPr lang="en-US" dirty="0">
                <a:solidFill>
                  <a:schemeClr val="bg1"/>
                </a:solidFill>
              </a:rPr>
              <a:t>  "timestamp": "</a:t>
            </a:r>
            <a:r>
              <a:rPr lang="en-US" dirty="0">
                <a:solidFill>
                  <a:srgbClr val="FFFF00"/>
                </a:solidFill>
              </a:rPr>
              <a:t>2026-10-03T10:30:00</a:t>
            </a:r>
            <a:r>
              <a:rPr lang="en-US" dirty="0">
                <a:solidFill>
                  <a:schemeClr val="bg1"/>
                </a:solidFill>
              </a:rPr>
              <a:t>"</a:t>
            </a:r>
          </a:p>
          <a:p>
            <a:r>
              <a:rPr lang="en-US" dirty="0">
                <a:solidFill>
                  <a:schemeClr val="bg1"/>
                </a:solidFill>
              </a:rPr>
              <a:t>}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55FAA90-C05E-B91B-3626-5A5F50BB88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1" y="4629296"/>
            <a:ext cx="4540292" cy="165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268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70D958-2421-2D3A-18EB-1B2675E20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F837322-1E72-BEC5-6311-95987E9776AE}"/>
              </a:ext>
            </a:extLst>
          </p:cNvPr>
          <p:cNvSpPr/>
          <p:nvPr/>
        </p:nvSpPr>
        <p:spPr>
          <a:xfrm>
            <a:off x="975974" y="2845290"/>
            <a:ext cx="4356468" cy="175432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0CF449-E26B-3CFF-32E4-61CA99F297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2827400-C2B1-0CF5-42F1-3C60CE9A4F45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4126864C-53B9-5F92-A424-1BABA9BDC6E8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43FDE27-0DAE-F214-3861-E08A75044781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AD3B23F-91F4-74FE-E1B5-96BADE6B2DB7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D66CC3E-2D97-5EFF-6E1D-864EDAD44FA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ESP32 MQTT Publisher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5789BC7-4E3F-BC6E-F0E8-55197B8C69DA}"/>
              </a:ext>
            </a:extLst>
          </p:cNvPr>
          <p:cNvSpPr txBox="1"/>
          <p:nvPr/>
        </p:nvSpPr>
        <p:spPr>
          <a:xfrm>
            <a:off x="1070766" y="1973027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Now the ESP32 sends real sensor readings to the Raspberry Pi MQTT broker while still updating the OLED display locally.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011B9D-1A83-08FF-4FDC-E6F7DBCC92CA}"/>
              </a:ext>
            </a:extLst>
          </p:cNvPr>
          <p:cNvSpPr txBox="1"/>
          <p:nvPr/>
        </p:nvSpPr>
        <p:spPr>
          <a:xfrm>
            <a:off x="1137339" y="4675340"/>
            <a:ext cx="6965196" cy="147732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Connect ESP32 to Wi-Fi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Connect to the MQTT broker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Read DHT22 temperature and humidity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Update the OLED display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Publish telemetry as JSON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145BF6-1C48-9616-189E-511511653AAF}"/>
              </a:ext>
            </a:extLst>
          </p:cNvPr>
          <p:cNvSpPr txBox="1"/>
          <p:nvPr/>
        </p:nvSpPr>
        <p:spPr>
          <a:xfrm>
            <a:off x="1137339" y="2883152"/>
            <a:ext cx="7119077" cy="203132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r>
              <a:rPr lang="en-US" dirty="0">
                <a:solidFill>
                  <a:schemeClr val="bg1"/>
                </a:solidFill>
              </a:rPr>
              <a:t>  "</a:t>
            </a:r>
            <a:r>
              <a:rPr lang="en-US" dirty="0" err="1">
                <a:solidFill>
                  <a:schemeClr val="bg1"/>
                </a:solidFill>
              </a:rPr>
              <a:t>device_id</a:t>
            </a:r>
            <a:r>
              <a:rPr lang="en-US" dirty="0">
                <a:solidFill>
                  <a:schemeClr val="bg1"/>
                </a:solidFill>
              </a:rPr>
              <a:t>": "</a:t>
            </a:r>
            <a:r>
              <a:rPr lang="en-US" dirty="0">
                <a:solidFill>
                  <a:srgbClr val="FFFF00"/>
                </a:solidFill>
              </a:rPr>
              <a:t>esp32-room-01</a:t>
            </a:r>
            <a:r>
              <a:rPr lang="en-US" dirty="0">
                <a:solidFill>
                  <a:schemeClr val="bg1"/>
                </a:solidFill>
              </a:rPr>
              <a:t>",</a:t>
            </a:r>
          </a:p>
          <a:p>
            <a:r>
              <a:rPr lang="en-US" dirty="0">
                <a:solidFill>
                  <a:schemeClr val="bg1"/>
                </a:solidFill>
              </a:rPr>
              <a:t>  "temperature": </a:t>
            </a:r>
            <a:r>
              <a:rPr lang="en-US" dirty="0">
                <a:solidFill>
                  <a:srgbClr val="FFC000"/>
                </a:solidFill>
              </a:rPr>
              <a:t>24.6</a:t>
            </a:r>
            <a:r>
              <a:rPr lang="en-US" dirty="0">
                <a:solidFill>
                  <a:schemeClr val="bg1"/>
                </a:solidFill>
              </a:rPr>
              <a:t>,</a:t>
            </a:r>
          </a:p>
          <a:p>
            <a:r>
              <a:rPr lang="en-US" dirty="0">
                <a:solidFill>
                  <a:schemeClr val="bg1"/>
                </a:solidFill>
              </a:rPr>
              <a:t>  "humidity": </a:t>
            </a:r>
            <a:r>
              <a:rPr lang="en-US" dirty="0">
                <a:solidFill>
                  <a:srgbClr val="FFC000"/>
                </a:solidFill>
              </a:rPr>
              <a:t>42.8</a:t>
            </a:r>
            <a:r>
              <a:rPr lang="en-US" dirty="0">
                <a:solidFill>
                  <a:schemeClr val="bg1"/>
                </a:solidFill>
              </a:rPr>
              <a:t>,</a:t>
            </a:r>
          </a:p>
          <a:p>
            <a:r>
              <a:rPr lang="en-US" dirty="0">
                <a:solidFill>
                  <a:schemeClr val="bg1"/>
                </a:solidFill>
              </a:rPr>
              <a:t>  "</a:t>
            </a:r>
            <a:r>
              <a:rPr lang="en-US" dirty="0" err="1">
                <a:solidFill>
                  <a:schemeClr val="bg1"/>
                </a:solidFill>
              </a:rPr>
              <a:t>uptime_ms</a:t>
            </a:r>
            <a:r>
              <a:rPr lang="en-US" dirty="0">
                <a:solidFill>
                  <a:schemeClr val="bg1"/>
                </a:solidFill>
              </a:rPr>
              <a:t>": </a:t>
            </a:r>
            <a:r>
              <a:rPr lang="en-US" dirty="0">
                <a:solidFill>
                  <a:srgbClr val="FFC000"/>
                </a:solidFill>
              </a:rPr>
              <a:t>152000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754660-A646-3037-EB22-0992B4A5C3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1208" y="4348267"/>
            <a:ext cx="3549110" cy="23660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4FA7727-1047-2A38-1E03-10D286D2C706}"/>
              </a:ext>
            </a:extLst>
          </p:cNvPr>
          <p:cNvSpPr txBox="1"/>
          <p:nvPr/>
        </p:nvSpPr>
        <p:spPr>
          <a:xfrm>
            <a:off x="1070766" y="6293352"/>
            <a:ext cx="7807016" cy="33855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15032C"/>
                </a:solidFill>
                <a:latin typeface="Dosis" pitchFamily="2" charset="0"/>
              </a:rPr>
              <a:t>The ESP32 is now a real MQTT publisher, sending live environmental data to the edge device.</a:t>
            </a:r>
            <a:endParaRPr 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E555BF7-07B1-3052-4E6B-7FCAE08A6205}"/>
              </a:ext>
            </a:extLst>
          </p:cNvPr>
          <p:cNvSpPr/>
          <p:nvPr/>
        </p:nvSpPr>
        <p:spPr>
          <a:xfrm>
            <a:off x="5908719" y="2845290"/>
            <a:ext cx="3700953" cy="70788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609355-D3E5-CC3C-60C3-3C2B04EEA743}"/>
              </a:ext>
            </a:extLst>
          </p:cNvPr>
          <p:cNvSpPr txBox="1"/>
          <p:nvPr/>
        </p:nvSpPr>
        <p:spPr>
          <a:xfrm>
            <a:off x="6070084" y="2883152"/>
            <a:ext cx="711907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iot</a:t>
            </a:r>
            <a:r>
              <a:rPr lang="en-US" dirty="0">
                <a:solidFill>
                  <a:schemeClr val="bg1"/>
                </a:solidFill>
              </a:rPr>
              <a:t>/room-01/telemetry</a:t>
            </a:r>
          </a:p>
          <a:p>
            <a:r>
              <a:rPr lang="en-US" dirty="0" err="1">
                <a:solidFill>
                  <a:schemeClr val="bg1"/>
                </a:solidFill>
              </a:rPr>
              <a:t>iot</a:t>
            </a:r>
            <a:r>
              <a:rPr lang="en-US" dirty="0">
                <a:solidFill>
                  <a:schemeClr val="bg1"/>
                </a:solidFill>
              </a:rPr>
              <a:t>/room-01/status</a:t>
            </a:r>
          </a:p>
        </p:txBody>
      </p:sp>
    </p:spTree>
    <p:extLst>
      <p:ext uri="{BB962C8B-B14F-4D97-AF65-F5344CB8AC3E}">
        <p14:creationId xmlns:p14="http://schemas.microsoft.com/office/powerpoint/2010/main" val="877714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5E9B60-011F-248F-1EE1-7E6E2DB70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FB7B4E0-B3C7-3C01-E2CE-B8A67278A168}"/>
              </a:ext>
            </a:extLst>
          </p:cNvPr>
          <p:cNvSpPr/>
          <p:nvPr/>
        </p:nvSpPr>
        <p:spPr>
          <a:xfrm>
            <a:off x="993825" y="5942127"/>
            <a:ext cx="9978975" cy="4576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A2068A-F521-7F4B-8171-B6579C8B79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7DE4744D-47F9-4ADE-5827-5FBD462905C8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D21ED538-125A-DB3D-2198-6F8306BAD5D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B68BB72-3D28-9E03-FBF6-40FFF381D99C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34CFA19-1B70-7D52-639B-FC4C87AA2988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675F12C-AFF3-0FE0-DCAF-BB0076991455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Receiving &amp; Visualizing Data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C3C7B4-F861-99EC-C3B4-B52F48C6DBFE}"/>
              </a:ext>
            </a:extLst>
          </p:cNvPr>
          <p:cNvSpPr txBox="1"/>
          <p:nvPr/>
        </p:nvSpPr>
        <p:spPr>
          <a:xfrm>
            <a:off x="1070766" y="1973027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After publishing telemetry from the ESP32, we need to verify that the Raspberry Pi can receive, process, and display the data.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B54496-EAC4-8210-44F2-9CD0A2F052AD}"/>
              </a:ext>
            </a:extLst>
          </p:cNvPr>
          <p:cNvSpPr txBox="1"/>
          <p:nvPr/>
        </p:nvSpPr>
        <p:spPr>
          <a:xfrm>
            <a:off x="1070766" y="2680913"/>
            <a:ext cx="6965196" cy="150810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Receiving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Use MQTT Explorer for quick message inspection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Use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mosquitto_sub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for terminal-based testing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Use a Python subscriber for processing telemetry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Prepare data for future dashboard visualization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5B23DD-B59C-4CDB-BBF3-AFBB6580F677}"/>
              </a:ext>
            </a:extLst>
          </p:cNvPr>
          <p:cNvSpPr txBox="1"/>
          <p:nvPr/>
        </p:nvSpPr>
        <p:spPr>
          <a:xfrm>
            <a:off x="1137337" y="5942126"/>
            <a:ext cx="10171129" cy="40011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mosquitto_sub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-h 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raspberrypi.local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-t 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iot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/room-01/telemetry -u 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mqtt_user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-P 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mqtt_password</a:t>
            </a:r>
            <a:endParaRPr lang="en-US" sz="2000" b="1" dirty="0">
              <a:solidFill>
                <a:schemeClr val="bg1"/>
              </a:solidFill>
              <a:latin typeface="Dosis" pitchFamily="2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572143F-CD05-6A78-6C54-0AB5A39815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3312" y="3388799"/>
            <a:ext cx="5985045" cy="2391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6100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1F3F71-031C-5626-D0ED-7339F0C65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1AA2EF4-6ED0-A0A9-DFA5-FE98BA41EF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990B148-4B2F-9F30-6114-6126A58B4157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E4894918-A2EB-C85A-E7E5-70D2E2D73E9B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C9DD935-353D-E234-5C65-9599BD731C6A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12EA5D2-378B-EEBC-975C-40BEB52E9AD1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F9F42EE-901D-6550-E265-52744624589F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Monitoring &amp; Protocol Analysis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C6F371-8F19-2744-64D7-D8F48A70E87E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To debug an IoT system, we need to observe both the application messages and the network traffic.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C907BD0-B902-3991-0641-5176D24ADEA7}"/>
              </a:ext>
            </a:extLst>
          </p:cNvPr>
          <p:cNvSpPr txBox="1"/>
          <p:nvPr/>
        </p:nvSpPr>
        <p:spPr>
          <a:xfrm>
            <a:off x="1042198" y="2874741"/>
            <a:ext cx="7715425" cy="375487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Debugging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Serial Monitor: ESP32 firmware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MQTT Explorer: MQTT topics and payloads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mosquitto_sub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: Terminal-based message testing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Wireshark: Network packet inspection</a:t>
            </a: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What We Verify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ESP32 connects to Wi-Fi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Keep the system running safely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Telemetry is published correctly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Raspberry Pi receives the message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Network traffic matches the expected behavior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>
              <a:latin typeface="Dosi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FCA8D8-F0FB-A35D-BEFE-FDD83149F842}"/>
              </a:ext>
            </a:extLst>
          </p:cNvPr>
          <p:cNvSpPr txBox="1"/>
          <p:nvPr/>
        </p:nvSpPr>
        <p:spPr>
          <a:xfrm>
            <a:off x="1042198" y="6068384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 reliable IoT system is built by testing, observing, and debugging each layer.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1C45176-0680-C73E-E671-CF29F3A6BE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706" y="4310143"/>
            <a:ext cx="4785167" cy="191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0852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B3B3FE-9D19-00D6-7E49-8273752AE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CFA5272-682E-C8FA-A21F-4DD000DEE2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78E447E8-9C7C-A1D8-9D91-648AF4EB2E37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48A5BB1F-54B0-68FE-9093-DAFAB6C602B4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89F5BC5-89F4-6AA6-D62A-E57D73E51904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4CF573D-F5EE-A9D8-B0CE-64607B0999D0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B22B559-0AF3-569D-9C81-437BC34BF134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What Happens When Things Fail?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689A79-DFA2-1B43-D2AB-8D405FC917AB}"/>
              </a:ext>
            </a:extLst>
          </p:cNvPr>
          <p:cNvSpPr txBox="1"/>
          <p:nvPr/>
        </p:nvSpPr>
        <p:spPr>
          <a:xfrm>
            <a:off x="1070766" y="2069941"/>
            <a:ext cx="9147889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The system works in normal conditions, but an IoT product must also behave correctly when something goes wrong.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C1E61CD-5BCE-259B-D87F-F5A09BC890A6}"/>
              </a:ext>
            </a:extLst>
          </p:cNvPr>
          <p:cNvSpPr txBox="1"/>
          <p:nvPr/>
        </p:nvSpPr>
        <p:spPr>
          <a:xfrm>
            <a:off x="1038340" y="2773608"/>
            <a:ext cx="7715425" cy="34778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Failure Scenarios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Wi-Fi connection is lost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MQTT broker becomes unavailable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Sensor reading fails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Raspberry Pi restarts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Messages are delayed or lost</a:t>
            </a: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Engineering Questions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Should local monitoring continue?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Should data be buffered?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How do we detect recovery?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What should the user see?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1E82C2-CBF7-B29A-9361-91A8F51BDE27}"/>
              </a:ext>
            </a:extLst>
          </p:cNvPr>
          <p:cNvSpPr txBox="1"/>
          <p:nvPr/>
        </p:nvSpPr>
        <p:spPr>
          <a:xfrm>
            <a:off x="1038340" y="5958173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Reliability starts by defining expected behavior during failure, not only during normal operation.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6D314A-D932-0615-C285-AF07D766A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5829" y="3914392"/>
            <a:ext cx="5452220" cy="217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2107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E64CD2-55E0-391C-3AAB-9072FE085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D16A1A5-0B6D-5C05-01DB-3127F77BCA61}"/>
              </a:ext>
            </a:extLst>
          </p:cNvPr>
          <p:cNvSpPr/>
          <p:nvPr/>
        </p:nvSpPr>
        <p:spPr>
          <a:xfrm>
            <a:off x="1274690" y="4824669"/>
            <a:ext cx="3945492" cy="99650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1063C1-DB08-B79F-22B1-193A873B07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3EC7F07-2774-BC7C-404E-B4CCB3AC1AA3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EB9D9866-8DBC-8279-F3D8-9B577C8664F3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3DE59C8-1BC4-F4DC-D098-32361D66D9A4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4B23F30-CF98-EA34-36DB-790F1A7ACCD1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C264853-2F08-7DF1-241B-D4543D9CC1E9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Connection Management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235167F-529C-AF28-12D3-7C59D793BB6E}"/>
              </a:ext>
            </a:extLst>
          </p:cNvPr>
          <p:cNvSpPr txBox="1"/>
          <p:nvPr/>
        </p:nvSpPr>
        <p:spPr>
          <a:xfrm>
            <a:off x="1070766" y="1973027"/>
            <a:ext cx="80334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When the network fails, the firmware should continue running and try to recover without blocking the whole system.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C9B697-C065-A62A-2818-A602FC165CE6}"/>
              </a:ext>
            </a:extLst>
          </p:cNvPr>
          <p:cNvSpPr txBox="1"/>
          <p:nvPr/>
        </p:nvSpPr>
        <p:spPr>
          <a:xfrm>
            <a:off x="1042198" y="2934163"/>
            <a:ext cx="7715425" cy="178510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Connection Strategy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Track Wi-Fi and MQTT states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separatelyEnable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SSH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Retry connection at controlled intervals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Keep sensor reading and OLED updates running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Publish device status when connected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Avoid infinite blocking loops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7CADB8-E8EE-8995-076A-15E20696FAA9}"/>
              </a:ext>
            </a:extLst>
          </p:cNvPr>
          <p:cNvSpPr txBox="1"/>
          <p:nvPr/>
        </p:nvSpPr>
        <p:spPr>
          <a:xfrm>
            <a:off x="1274690" y="5897540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SSH allows us to configure and control the Raspberry Pi without connecting a monitor or keyboard.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D5D488-4B59-CB52-E398-DB0ED9810ACC}"/>
              </a:ext>
            </a:extLst>
          </p:cNvPr>
          <p:cNvSpPr txBox="1"/>
          <p:nvPr/>
        </p:nvSpPr>
        <p:spPr>
          <a:xfrm>
            <a:off x="1368939" y="4846121"/>
            <a:ext cx="71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Wi-Fi Connected / Disconnected</a:t>
            </a:r>
          </a:p>
          <a:p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MQTT Connected / Disconnected</a:t>
            </a:r>
          </a:p>
          <a:p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Sensor OK / Sensor Error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E625082-E3B4-90E0-31C5-7AE6ED7CFB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8254" y="3902450"/>
            <a:ext cx="4723122" cy="1887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165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980EDC-C3A0-16F0-5BBB-A2283D020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A1E2027-FE61-AFCB-13F9-C032D3D2F4CF}"/>
              </a:ext>
            </a:extLst>
          </p:cNvPr>
          <p:cNvSpPr/>
          <p:nvPr/>
        </p:nvSpPr>
        <p:spPr>
          <a:xfrm>
            <a:off x="1274690" y="4701406"/>
            <a:ext cx="4821310" cy="99650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0C3CE2-B6F7-1794-A132-D207389E2D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43C4B3B-2D7E-E1D7-693A-7493ACFFB49F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C3899B18-65AF-B698-6F58-78DC240250B1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70EE7D0-3163-0852-7898-4150166B7400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E1E8DB5-7A24-7EDD-554D-F76CF948B471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95DC63-7D9C-B2E3-7885-2E4AEC724AC3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Offline Data Buffering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9FCAEF7-35F4-CB76-4898-1FEBC6BF30AD}"/>
              </a:ext>
            </a:extLst>
          </p:cNvPr>
          <p:cNvSpPr txBox="1"/>
          <p:nvPr/>
        </p:nvSpPr>
        <p:spPr>
          <a:xfrm>
            <a:off x="1070766" y="1973027"/>
            <a:ext cx="82691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When MQTT is unavailable, sensor readings should not disappear immediately. The device can temporarily buffer data and publish it after recovery.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EBDEFF2-18B1-9E9D-1344-DE7A47CB1F86}"/>
              </a:ext>
            </a:extLst>
          </p:cNvPr>
          <p:cNvSpPr txBox="1"/>
          <p:nvPr/>
        </p:nvSpPr>
        <p:spPr>
          <a:xfrm>
            <a:off x="1070764" y="2757283"/>
            <a:ext cx="7715425" cy="178510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Buffering Strategy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Keep local monitoring active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Store unsent readings temporarily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Limit buffer size to protect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Publish buffered data after reconnection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Mark delayed data clearly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73EDDF-786D-8B4B-9B1D-EFE8CAB51F64}"/>
              </a:ext>
            </a:extLst>
          </p:cNvPr>
          <p:cNvSpPr txBox="1"/>
          <p:nvPr/>
        </p:nvSpPr>
        <p:spPr>
          <a:xfrm>
            <a:off x="1070764" y="5830702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Buffering improves reliability, but it must be limited, intentional, and tested.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079321-59D9-F6C3-C811-DD0CCBB093A6}"/>
              </a:ext>
            </a:extLst>
          </p:cNvPr>
          <p:cNvSpPr txBox="1"/>
          <p:nvPr/>
        </p:nvSpPr>
        <p:spPr>
          <a:xfrm>
            <a:off x="1368939" y="4722858"/>
            <a:ext cx="71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RAM Buffer   → simple, temporary</a:t>
            </a:r>
          </a:p>
          <a:p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NVS          → small settings or limited records</a:t>
            </a:r>
          </a:p>
          <a:p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SPIFFS/</a:t>
            </a:r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LittleFS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→ file-based buffering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2C4A3C-038C-79F6-DFD0-08E2099DF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286" y="4221815"/>
            <a:ext cx="4894145" cy="195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8633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8CD93-04A7-36B0-ADDF-EB7B57745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3471D65-43FF-52AC-0A80-E7FFCB982BF9}"/>
              </a:ext>
            </a:extLst>
          </p:cNvPr>
          <p:cNvSpPr/>
          <p:nvPr/>
        </p:nvSpPr>
        <p:spPr>
          <a:xfrm>
            <a:off x="1274690" y="4701406"/>
            <a:ext cx="4821310" cy="99650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FC194F-383A-A841-638D-A67F120AF5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D6B2F5E-2AA9-64F1-05F0-22DF021F6FD6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30A9CC9C-9BE8-6202-4571-DBC35CA8FD92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BE827D-0C49-78B8-DB58-6FE536271EBB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2FEDDBD-6080-4DAC-9642-8FD7F2628BE1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ED2C403-AABD-A90C-1209-D1D18B47EC88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Timestamps &amp; Data Serialization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C569346-3B1B-5DB1-40D7-1B7053377567}"/>
              </a:ext>
            </a:extLst>
          </p:cNvPr>
          <p:cNvSpPr txBox="1"/>
          <p:nvPr/>
        </p:nvSpPr>
        <p:spPr>
          <a:xfrm>
            <a:off x="1070766" y="1973027"/>
            <a:ext cx="82691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Sensor data becomes more useful when we know when it was measured and when it was received.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E2171F8-FABB-EA21-C164-FD471B57ECC7}"/>
              </a:ext>
            </a:extLst>
          </p:cNvPr>
          <p:cNvSpPr txBox="1"/>
          <p:nvPr/>
        </p:nvSpPr>
        <p:spPr>
          <a:xfrm>
            <a:off x="1070764" y="2757283"/>
            <a:ext cx="7715425" cy="150810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Time Tracking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uptime_ms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shows time since ESP32 boot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NTP provides real network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Measurement time and receive time are different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Delayed data must be marked clearly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0AE0FE-351E-F923-A8B9-D3B0DDCF9DCE}"/>
              </a:ext>
            </a:extLst>
          </p:cNvPr>
          <p:cNvSpPr txBox="1"/>
          <p:nvPr/>
        </p:nvSpPr>
        <p:spPr>
          <a:xfrm>
            <a:off x="1070764" y="5830702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Time and data format decisions affect debugging, storage, and long-term monitoring.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DAD4B8-A8DB-29CD-CBD1-A6721E2F3242}"/>
              </a:ext>
            </a:extLst>
          </p:cNvPr>
          <p:cNvSpPr txBox="1"/>
          <p:nvPr/>
        </p:nvSpPr>
        <p:spPr>
          <a:xfrm>
            <a:off x="1368939" y="4722858"/>
            <a:ext cx="71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JSON        → readable and easy to debug</a:t>
            </a:r>
          </a:p>
          <a:p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MessagePack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→ smaller binary format</a:t>
            </a:r>
          </a:p>
          <a:p>
            <a:r>
              <a:rPr lang="en-US" sz="2000" b="1" dirty="0" err="1">
                <a:solidFill>
                  <a:schemeClr val="bg1"/>
                </a:solidFill>
                <a:latin typeface="Dosis" pitchFamily="2" charset="0"/>
              </a:rPr>
              <a:t>Protobuf</a:t>
            </a:r>
            <a:r>
              <a:rPr lang="en-US" sz="2000" b="1" dirty="0">
                <a:solidFill>
                  <a:schemeClr val="bg1"/>
                </a:solidFill>
                <a:latin typeface="Dosis" pitchFamily="2" charset="0"/>
              </a:rPr>
              <a:t>    → structured and efficient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E7B7B-E835-F7D0-8CBB-60603CF9A1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000" y="3538341"/>
            <a:ext cx="4749800" cy="237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41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62C310-C1A8-4D62-456F-71F30E862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9D5B552-1822-927C-3B40-9E17915AA8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D08092D4-7126-A06F-30ED-0504AE8ED02B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9A677DDB-7A0B-E55A-A89D-2EE986EF4259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BF261B4-E277-B99E-288C-0528E46B759B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0C05872-1A58-9B2C-DF7C-817CD7EE3CAF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69A3C4A-975B-D031-CFF7-9495DE23519C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Logging &amp; Failure Recovery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E278060-5352-2B3D-0CCA-063B7B5C8B92}"/>
              </a:ext>
            </a:extLst>
          </p:cNvPr>
          <p:cNvSpPr txBox="1"/>
          <p:nvPr/>
        </p:nvSpPr>
        <p:spPr>
          <a:xfrm>
            <a:off x="1070766" y="2069941"/>
            <a:ext cx="826796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 reliable IoT system must detect failures, record useful diagnostic information, and recover whenever possible without manual intervention.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6F1BC16-CD3C-4B60-4BB1-FBBBF9B4B847}"/>
              </a:ext>
            </a:extLst>
          </p:cNvPr>
          <p:cNvSpPr txBox="1"/>
          <p:nvPr/>
        </p:nvSpPr>
        <p:spPr>
          <a:xfrm>
            <a:off x="1038340" y="2773608"/>
            <a:ext cx="7715425" cy="2923877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Logging &amp; Monitoring</a:t>
            </a:r>
            <a:endParaRPr lang="fa-IR" sz="2000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Event Logging: Record important system events</a:t>
            </a:r>
            <a:endParaRPr lang="fa-IR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Error Reporting: Identify sensor and communication failures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Log Levels: INFO, WARNING, ERROR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Remote Logging: Monitor device behavior from a central system</a:t>
            </a: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Failure Recovery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Automatic reconnection after network failures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Controlled retry mechanisms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Safe recovery from unexpected errors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Maintaining essential local functionality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7A5C42-414A-1732-F5B0-DAA68050B1A2}"/>
              </a:ext>
            </a:extLst>
          </p:cNvPr>
          <p:cNvSpPr txBox="1"/>
          <p:nvPr/>
        </p:nvSpPr>
        <p:spPr>
          <a:xfrm>
            <a:off x="1038340" y="5958173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 reliable IoT system should not only detect failures but also explain what happened and recover safely.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073D83-8EB4-B302-1035-C7098B8C24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8563" y="4067567"/>
            <a:ext cx="4667170" cy="233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8342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D7C8F-E4CA-FEE1-3D6D-DDDCF6012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5E34618-45B6-D260-391E-4C0CDE9AAE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48DDE6B-535C-A4FD-E05B-BDBC1D80C9E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DE1E7A54-9DA1-C9EE-5054-D398F6A2815F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37E0250-A3D1-CCB6-862B-44ABFF81EAF8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5542DA85-3260-0913-6881-351E71529D32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0C5185-9985-D295-E83D-179F9EFAFD91}"/>
              </a:ext>
            </a:extLst>
          </p:cNvPr>
          <p:cNvSpPr txBox="1"/>
          <p:nvPr/>
        </p:nvSpPr>
        <p:spPr>
          <a:xfrm>
            <a:off x="847562" y="132669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Firmware Architecture &amp; Hardware Abstraction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9B3F02-4200-13EE-FC81-FE33D81D6C0C}"/>
              </a:ext>
            </a:extLst>
          </p:cNvPr>
          <p:cNvSpPr txBox="1"/>
          <p:nvPr/>
        </p:nvSpPr>
        <p:spPr>
          <a:xfrm>
            <a:off x="1038340" y="1973027"/>
            <a:ext cx="826796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As IoT systems grow, firmware becomes more complex. A well-structured architecture separates responsibilities, making the code easier to maintain, test, and extend.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1EE87A-E26A-C51E-AC2C-2AC396F9CEA8}"/>
              </a:ext>
            </a:extLst>
          </p:cNvPr>
          <p:cNvSpPr txBox="1"/>
          <p:nvPr/>
        </p:nvSpPr>
        <p:spPr>
          <a:xfrm>
            <a:off x="1038340" y="2988690"/>
            <a:ext cx="8410460" cy="2923877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Key Design Principles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Separation of Concerns: Divide firmware into independent functional components.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Hardware Abstraction: Separate hardware-specific operations from application logic.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Modularity: Organize code into reusable functions and modules.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Maintainability: Simplify debugging, updates, and future development.</a:t>
            </a: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Firmware Components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Sensor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Display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Network &amp; MQTT Communication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latin typeface="Dosis" pitchFamily="2" charset="0"/>
              </a:rPr>
              <a:t>Application Logic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F16F15-4E23-371A-A4A9-7CE9AB8638E8}"/>
              </a:ext>
            </a:extLst>
          </p:cNvPr>
          <p:cNvSpPr txBox="1"/>
          <p:nvPr/>
        </p:nvSpPr>
        <p:spPr>
          <a:xfrm>
            <a:off x="1038340" y="6047209"/>
            <a:ext cx="711907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 modular firmware architecture reduces complexity and prepares the system for more advanced designs, including </a:t>
            </a:r>
            <a:r>
              <a:rPr lang="en-US" sz="2000" b="1" dirty="0" err="1">
                <a:solidFill>
                  <a:srgbClr val="15032C"/>
                </a:solidFill>
                <a:latin typeface="Dosis" pitchFamily="2" charset="0"/>
              </a:rPr>
              <a:t>FreeRTOS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.</a:t>
            </a: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0448EF-6C5C-BA31-010C-451BB000A4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3830" y="4220721"/>
            <a:ext cx="3577169" cy="2384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726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0225E5-63C9-187A-A84B-5A1E0097B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53C5E53-F8D9-F754-B949-41B58A577F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2F4CD20-6EA5-F3A9-DADB-CAFD6F8705DF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1E25E5D-C871-7E8C-76FE-007399B8D200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23D48ED-E1D7-9590-8BE8-CDB80531D58E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B4F857B-4EDF-F778-2575-2D9D4F462F99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5B5A63-2913-149F-FFB1-D6AD1CEA3CA5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Loop-Based vs Event-Driven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BB2C91-35B7-D314-F72F-6925BF8DECDD}"/>
              </a:ext>
            </a:extLst>
          </p:cNvPr>
          <p:cNvSpPr txBox="1"/>
          <p:nvPr/>
        </p:nvSpPr>
        <p:spPr>
          <a:xfrm>
            <a:off x="1038339" y="1913860"/>
            <a:ext cx="8267967" cy="70788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Firmware tasks can be managed in different ways. Two common approaches are loop-based execution and event-driven design.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CD1139-F47A-9DE4-6DD3-152770B2831D}"/>
              </a:ext>
            </a:extLst>
          </p:cNvPr>
          <p:cNvSpPr txBox="1"/>
          <p:nvPr/>
        </p:nvSpPr>
        <p:spPr>
          <a:xfrm>
            <a:off x="1038339" y="2661059"/>
            <a:ext cx="9240194" cy="378565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Loop-Based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Tasks run repeatedly inside the main loop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Simple and easy to understand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Works well for small projects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Can become difficult to manage as complexity grows</a:t>
            </a: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Event-Driven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Tasks respond to events, states, or scheduled triggers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Improves responsiveness and structure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Reduces unnecessary blocking behavior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Better suited for larger and more scalable systems</a:t>
            </a: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Common Challenge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Blocking code can delay sensor reading, display updates, and communication tasks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AA6953B-C682-900B-D4EC-688534B982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334" y="3716866"/>
            <a:ext cx="4529666" cy="2264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9178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98C6B9-6C1B-ACC4-A1F9-6AF67E38B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269F990-0902-13B2-FDC3-874F2D1E3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BC7A4FD-B1C4-8CC1-99B4-5D6316696C98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3888DFAE-5E73-B7FF-1F7E-DFDC97F67E17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CD69F85-AA08-D9F5-B856-F9A33F62CDC8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DE913DB-7D55-62B2-74B0-28996BC1F942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C0FA8E2-D64A-5ADF-5115-F7F719F82349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FreeRTOS</a:t>
            </a: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 Tasks &amp; Queues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C3424-5E1A-38F9-7D2A-387828F879BA}"/>
              </a:ext>
            </a:extLst>
          </p:cNvPr>
          <p:cNvSpPr txBox="1"/>
          <p:nvPr/>
        </p:nvSpPr>
        <p:spPr>
          <a:xfrm>
            <a:off x="953672" y="1973026"/>
            <a:ext cx="9240194" cy="470898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rgbClr val="15032C"/>
                </a:solidFill>
                <a:latin typeface="Dosis" pitchFamily="2" charset="0"/>
              </a:rPr>
              <a:t>FreeRTOS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is a real-time operating system kernel that allows embedded applications to manage multiple tasks with scheduling and inter-task communication.</a:t>
            </a:r>
          </a:p>
          <a:p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Core Concepts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Tasks: Independent units of program execution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Scheduler: Manages when tasks run based on priority and readiness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Queues: Safely transfer data between tasks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Priorities: Help determine which ready task should execute first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Task Delay: Allows tasks to wait without blocking the entire system</a:t>
            </a:r>
          </a:p>
          <a:p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Sensor Task → Data Queue → Display / MQTT Tasks</a:t>
            </a:r>
          </a:p>
          <a:p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 err="1">
                <a:solidFill>
                  <a:srgbClr val="15032C"/>
                </a:solidFill>
                <a:latin typeface="Dosis" pitchFamily="2" charset="0"/>
              </a:rPr>
              <a:t>FreeRTOS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helps organize concurrent firmware activities, while queues provide a structured way to exchange data between tasks.</a:t>
            </a:r>
          </a:p>
          <a:p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5E37DD-3AEC-2D16-F4A0-A90E0932A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2234" y="4010224"/>
            <a:ext cx="4009766" cy="2004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122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2A96D5-87AA-268E-6834-C68B0AF0C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B6233ED-192E-E2BE-EC67-AF79AD180D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05052F8-2663-1416-CF3E-E07B73F333CD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5261DDCF-D747-62A8-EB5D-0872241A2481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D229961-1BD4-C035-5E07-FF4C9C329C0F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DE3F39D-D474-9CD0-5253-A2B6708DC5B0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B17024-6FDC-8FD8-5EC9-65AF47BA72BA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Task Synchronization &amp; Validation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6EE22D-197A-E415-0F46-9C6EA4EBB789}"/>
              </a:ext>
            </a:extLst>
          </p:cNvPr>
          <p:cNvSpPr txBox="1"/>
          <p:nvPr/>
        </p:nvSpPr>
        <p:spPr>
          <a:xfrm>
            <a:off x="970200" y="1781975"/>
            <a:ext cx="9240194" cy="501675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Concurrent tasks must coordinate access to shared resources to prevent data corruption, unexpected behavior, and timing issues.</a:t>
            </a:r>
          </a:p>
          <a:p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Synchronization Mechanisms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Mutex: Protects shared resources from simultaneous access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Binary Semaphore: Signals events between tasks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Queue: Transfers data safely between tasks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Task Priorities: Influence scheduling and responsiveness</a:t>
            </a: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Validation &amp; Testing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Detect race conditions and resource conflicts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Monitor task execution and queue capacity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Test sensor failures and delayed tasks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Check for deadlocks and task starvation</a:t>
            </a:r>
          </a:p>
          <a:p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Reliable multitasking requires proper synchronization, resource ownership, and systematic validation.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158435B-2AE8-64C1-98A1-03505468F1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7000" y="3945467"/>
            <a:ext cx="4445000" cy="222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516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B7161E-B52B-0D6E-4266-C45C551CD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3E72AAA-E4E9-5DA7-F6EB-B1801633AC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B3EEEDD-556F-B066-16A1-E107A976827D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25859AA4-186C-A21F-C0A9-22E283360B27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3848B1D-32AB-ADC0-1A05-B04F28084407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3247738-0872-9F94-F79C-F9C12326B8F7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CB7D44-93F0-A7DC-0F6C-619FB8ECEFE8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IoT Security Threats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B46FDF9-66E7-A90A-1CB1-7AB57A1B360F}"/>
              </a:ext>
            </a:extLst>
          </p:cNvPr>
          <p:cNvSpPr txBox="1"/>
          <p:nvPr/>
        </p:nvSpPr>
        <p:spPr>
          <a:xfrm>
            <a:off x="970200" y="1781975"/>
            <a:ext cx="9240194" cy="517064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Connected IoT devices introduce security risks across hardware, firmware, networks, and cloud or edge services.</a:t>
            </a:r>
          </a:p>
          <a:p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Common Security Threats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Unauthorized Access: Unknown devices connect to IoT services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Eavesdropping: Unencrypted network traffic exposes sensitive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Message Tampering: Attackers alter or inject misleading messages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Credential Exposure: Hardcoded or leaked passwords compromise devices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Device Compromise: Vulnerable firmware enables unauthorized control</a:t>
            </a: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Security Objectives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Confidentiality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Integrity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Authentication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Availability</a:t>
            </a:r>
          </a:p>
          <a:p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IoT security must protect the entire system, not just the network connection.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12EC6B-6B92-B59A-6EC4-26C498E2C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7788" y="4135192"/>
            <a:ext cx="4084212" cy="272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7652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F582F8-8EA6-B033-074F-D526EB8A2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507151C-8C74-7878-1055-91D9045B9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D62CB69-8C77-3145-4DD4-8F6517FA7B47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9DB6BD56-9001-38F4-DC18-13067A0B9DFA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F53F68F-4A16-ABA1-AC06-956141E69D7B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B4AF0A3-B7B1-9B0B-34E7-0DCD821624D1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67B6DC-6D31-614C-6518-4140CF47C42B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Authentication &amp; Access Control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E888C8-909A-091E-DEDC-AC32B52927A8}"/>
              </a:ext>
            </a:extLst>
          </p:cNvPr>
          <p:cNvSpPr txBox="1"/>
          <p:nvPr/>
        </p:nvSpPr>
        <p:spPr>
          <a:xfrm>
            <a:off x="970200" y="1781975"/>
            <a:ext cx="9240194" cy="470898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 secure IoT system must verify device identities and restrict access to authorized resources.</a:t>
            </a:r>
          </a:p>
          <a:p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Access Control Mechanisms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Authentication: Verify devices using credentials or certificates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Authorization: Define what each device is allowed to do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MQTT ACLs: Restrict publishing and subscribing by topic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Least Privilege: Grant only the permissions required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Network Protection: Limit exposed ports and services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Example Policy</a:t>
            </a: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      ESP32 → Publish telemetry only</a:t>
            </a: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      Python Subscriber → Read telemetry only</a:t>
            </a:r>
          </a:p>
          <a:p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Authentication establishes identity; authorization controls permitted actions.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94BD641-0A59-2338-CA33-F6CE1B75F1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759" y="3187707"/>
            <a:ext cx="5387241" cy="359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1729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3A34A5-2CA4-B9E3-C64E-6D60EC306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9255658-7F7D-F9AE-AB39-B2C5C15BDC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7880A91F-FC9A-5485-41F0-0B2134EB3C0B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C70AD07A-802F-08F8-9E07-E6E5C8529543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C26830A-EB38-CE1B-48E4-B3C39EA32235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E281B23-2275-CFE1-8205-79BA7A7B1CB8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ED92C0-4097-01E6-0F9C-1F1D5C2A32AF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Securing MQTT with TLS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8C017D0-792B-27FB-EB2A-F2DEB97B2D13}"/>
              </a:ext>
            </a:extLst>
          </p:cNvPr>
          <p:cNvSpPr txBox="1"/>
          <p:nvPr/>
        </p:nvSpPr>
        <p:spPr>
          <a:xfrm>
            <a:off x="970200" y="1781975"/>
            <a:ext cx="8639472" cy="470898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TLS protects MQTT communication against network eavesdropping and tampering while enabling the client to verify the broker's identity.</a:t>
            </a:r>
          </a:p>
          <a:p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TLS Security Components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Encryption: Protects data in transit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Certificate Validation: Verifies the MQTT broker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Certificate Authority (CA): Establishes a trust relationship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Secure Transport: MQTT over TLS commonly uses port 8883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Time Validation: Requires a valid system clock for certificate checks</a:t>
            </a:r>
          </a:p>
          <a:p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Secure Communication</a:t>
            </a: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      ESP32 → TLS Connection → </a:t>
            </a:r>
            <a:r>
              <a:rPr lang="en-US" sz="2000" b="1" dirty="0" err="1">
                <a:solidFill>
                  <a:srgbClr val="15032C"/>
                </a:solidFill>
                <a:latin typeface="Dosis" pitchFamily="2" charset="0"/>
              </a:rPr>
              <a:t>Mosquitto</a:t>
            </a:r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 Broker</a:t>
            </a:r>
          </a:p>
          <a:p>
            <a:endParaRPr lang="en-US" sz="2000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sz="2000" b="1" dirty="0">
                <a:solidFill>
                  <a:srgbClr val="15032C"/>
                </a:solidFill>
                <a:latin typeface="Dosis" pitchFamily="2" charset="0"/>
              </a:rPr>
              <a:t>Use certificate validation and encrypted transport to protect MQTT traffic; never disable verification as a production shortcut.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AB9A31-A3D0-7D1C-0142-0F9EE0DF7F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7447" y="4006779"/>
            <a:ext cx="4124553" cy="2059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193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900885-2C75-BD82-4691-18A3A2718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DEDC3C8-D768-2081-AA6D-47CDD30073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794C4BB5-4E16-79EC-D4F9-A30ECF6CB7B6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0E9D9304-F360-E0D8-DADD-EB120D9338D4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3303EC3-01F9-56BA-96FA-8F014B16C926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514D088-8963-9486-DCF7-3856AE432AC8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E1DDFC-BFCB-9EF9-CD05-2D69CC87D883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Secure Provisioning &amp; Credential Management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EE6662E-7627-3EFB-D1D1-48B040727636}"/>
              </a:ext>
            </a:extLst>
          </p:cNvPr>
          <p:cNvSpPr txBox="1"/>
          <p:nvPr/>
        </p:nvSpPr>
        <p:spPr>
          <a:xfrm>
            <a:off x="970200" y="1847544"/>
            <a:ext cx="8639472" cy="480131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IoT device security depends on how credentials, certificates, and configuration data are installed, stored, updated, and revoked.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Secure Provisioning Practices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Device Identity: Assign unique identifiers and credentials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Secret Management: Keep passwords and private keys out of public repositories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Certificate Provisioning: Install only trusted certificates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Credential Rotation: Replace compromised or outdated credentials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Secure Storage: Protect sensitive data on deployed devices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Common Mistakes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Hardcoded production passwords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Shared credentials across all devices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Disabled TLS certificate 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Exposed private keys in source control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Secure communication is only effective when device identities and credentials are managed throughout their lifecycle.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B88930-CA64-EEC6-EB78-0701B0CDAB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1169" y="3267580"/>
            <a:ext cx="4190578" cy="2793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258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9E6AE4-DC2F-B79E-B105-BE6139CA3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2C8C0B-0A2F-EF84-7429-2E62CF819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6EAC3DB-514C-EF51-74E1-25D88AF2BE6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C5BFFBF8-B0B4-78BE-8820-4F95643972A0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D73064F-FDD7-7F2A-CEE6-F9BA0E105D2D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24EF3A9-879D-6233-6FB0-8611E6987E86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196E89-75D1-A75C-8FBF-CA78FC6EA38A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Why Over-the-Air Updates?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F357FC5-0531-69B6-4802-C5EB1916B3E8}"/>
              </a:ext>
            </a:extLst>
          </p:cNvPr>
          <p:cNvSpPr txBox="1"/>
          <p:nvPr/>
        </p:nvSpPr>
        <p:spPr>
          <a:xfrm>
            <a:off x="970200" y="1874547"/>
            <a:ext cx="8639472" cy="480131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Deployed IoT devices require firmware updates for bug fixes, security patches, and new features—often without physical access.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Why OTA Matters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Remote Updates: Deploy firmware without USB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Bug Fixes: Resolve software issues after installation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Security Patches: Address discovered vulnerabilities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Feature Deployment: Extend device capabilities remotely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Scalability: Maintain fleets of distributed IoT devices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Engineering Challenges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Network interruptions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Power loss during updates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Firmware compatibility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Update authenticity and recovery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OTA enables remote firmware maintenance, but every update must be designed for reliability and security.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6E4C42-036D-09D9-E364-E0BB3514C6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3796" y="3615266"/>
            <a:ext cx="4954204" cy="247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1122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B93077-A626-B1D3-552E-80F81EE3C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9DCF154-97A5-55CE-6393-ACB100D0B6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37AEA03-507B-D47A-F66C-BD92B7A2AB32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E3DC827A-B180-50EC-67AA-1247454BBC77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B66C86D-09B5-8223-7924-C5DABC977834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557B070-6011-D7CD-DEB7-E63C6CE6DE0B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090DBB9-7211-218D-DE9A-D6321C765E6F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Firmware Partitions &amp; Rollback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300326-7547-465E-3868-1B96D055C982}"/>
              </a:ext>
            </a:extLst>
          </p:cNvPr>
          <p:cNvSpPr txBox="1"/>
          <p:nvPr/>
        </p:nvSpPr>
        <p:spPr>
          <a:xfrm>
            <a:off x="970200" y="1874547"/>
            <a:ext cx="8639472" cy="452431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Reliable OTA systems use separate flash partitions to install new firmware while preserving a previously working version.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OTA Partition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OTA Slot A: Current firmware image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OTA Slot B: New firmware image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OTA Data: Stores boot selection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Bootloader: Selects the firmware to execute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Recovery Strategy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Download and validate the new firmware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Boot the updated application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Perform startup health checks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Confirm success or roll back when supported and configured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OTA partitions enable safer updates, but automatic rollback requires an appropriate bootloader configuration and validation strategy.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64B254-615E-ACB1-6F5C-099F735116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8922" y="3064933"/>
            <a:ext cx="4381500" cy="29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1692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62E946-63C4-7A9F-558A-71B10010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5E64B0F-6B85-9EED-18B8-724367014A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0ACEEAF-9B67-DDBA-70B4-B4AF9A229BA4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E56116D-7F4B-BF5C-BD84-8CC7C8A072F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02FFE29-D1C1-E93D-6DC9-BBE40443C0E9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4AA3EA6-BF88-81FB-33BF-86D4A7BBA668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4BDB6FA-E867-AD03-2EF6-3E867AB1CDD3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Implementing OTA on ESP32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2E742CA-3465-7CEF-5B7A-B5C1607920F9}"/>
              </a:ext>
            </a:extLst>
          </p:cNvPr>
          <p:cNvSpPr txBox="1"/>
          <p:nvPr/>
        </p:nvSpPr>
        <p:spPr>
          <a:xfrm>
            <a:off x="970200" y="1874547"/>
            <a:ext cx="8639472" cy="452431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ESP32 supports firmware updates over a network without requiring a physical USB connection for every deployment.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OTA Update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Initial Setup: Flash an OTA-capable firmware via USB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Network Connection: Connect the ESP32 to Wi-Fi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Update Service: Enable OTA functionality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Firmware Upload: Transfer a new compiled firmware image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Restart &amp; Verify: Confirm that the updated application works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Security Considerations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Restrict update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Verify firmware authenticity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Plan for failed updates and recovery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 successful OTA update requires more than uploading firmware: the updated device must remain functional, secure, and recoverable.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9F22A0B-65F1-10C0-46E5-D506C4CFBA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150" y="3298388"/>
            <a:ext cx="4835536" cy="2415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927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3D2A8-2E9C-E98F-DDF0-21634C01B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BEB02F7-2182-FD80-8632-3A2932370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05FB160-6F2A-6969-7555-684120E18242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5522EB0-2922-9EA5-0F37-A5990360FD3C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2A4FAC4-9F85-767D-2C39-BBBE8DBFB4B4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F5178C-8C10-FAE2-1625-1B0AA76DBB4B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B1B841D-4390-B243-53EA-CE55D9467BFB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Raspberry Pi Maintenance &amp; Remote Operations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55500DB-A5E5-9CF2-429F-BDC3DEFC3A39}"/>
              </a:ext>
            </a:extLst>
          </p:cNvPr>
          <p:cNvSpPr txBox="1"/>
          <p:nvPr/>
        </p:nvSpPr>
        <p:spPr>
          <a:xfrm>
            <a:off x="970200" y="1874547"/>
            <a:ext cx="8639472" cy="480131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Reliable IoT systems require ongoing maintenance of both embedded devices and their supporting edge infrastructure.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Maintenance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APT: Install security patches and system updates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SSH: Secure remote system administration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rsync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: Transfer and synchronize project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Ansible: Automate repeatable configuration tasks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systemd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&amp;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journalctl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: Manage services and inspect logs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Operational Best Practices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Monitor service health and resource usage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Back up important configuration and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Test updates before production 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Plan maintenance windows and recovery procedures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Remote maintenance combines software updates, automation, logging, backups, and operational discipline.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8D0323-232D-1DEE-E49F-BEFE14653F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100" y="3513666"/>
            <a:ext cx="4025900" cy="2683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8847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F4901A-FA39-90F4-BE4F-B408D4D10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160FAB-CC93-DE30-F29C-70FAA74B4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EABC176F-7F50-EB06-481D-0B1869573D40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39AD77A6-97DF-FD88-D368-3C15BF100EDF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C6CE58F-6C16-5BE4-7120-2F8954E429E7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D50E9B5-0A14-266F-6860-37BD1ECF41B0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1990EA-A21F-38C9-11BC-39E883C2E837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Beyond Wi-Fi: IoT Connectivity Challenges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1FECB8-2EFA-2DBF-6B76-D595DBE454BE}"/>
              </a:ext>
            </a:extLst>
          </p:cNvPr>
          <p:cNvSpPr txBox="1"/>
          <p:nvPr/>
        </p:nvSpPr>
        <p:spPr>
          <a:xfrm>
            <a:off x="970200" y="2054965"/>
            <a:ext cx="8639472" cy="4247317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Wi-Fi works well for local IoT networks, but remote deployments often require different communication technologies.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Challenges Beyond Local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Limited Coverage: Wi-Fi access points cannot cover every 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Power Constraints: Battery-powered devices require efficient communication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Infrastructure Dependency: Remote locations may lack Internet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Deployment Scale: Distributed sensors need scalable connectivity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Operational Cost: Coverage, infrastructure, and maintenance affect cost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Alternative Connectivity Options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Cellular Networks (2G / 4G)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LoRa /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Connectivity should be selected based on deployment requirements—not familiarity with a particular technology.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BDB8E3-182B-C25D-1992-2CD9DB7293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067" y="3206044"/>
            <a:ext cx="3953933" cy="263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2237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D8FE40-2814-8841-E91B-AB63147D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7321820-8578-1EA5-433F-8AFB9B8E2A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D6A572D-38F9-D7A6-4595-6687AFC407AD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1A70D64C-4B65-1292-CE75-4A961773A008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396FA8-7419-EF0A-123D-DF6FEA3282D5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4E613FC0-7C78-28F5-DC60-E7FE00624D4F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9DFA6CD-0813-1869-6DD5-48960924442E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Cellular IoT: 2G &amp; 4G Connectivity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4816EB5-8CA7-B788-5E13-D3EF0FF0D1E9}"/>
              </a:ext>
            </a:extLst>
          </p:cNvPr>
          <p:cNvSpPr txBox="1"/>
          <p:nvPr/>
        </p:nvSpPr>
        <p:spPr>
          <a:xfrm>
            <a:off x="970200" y="1874547"/>
            <a:ext cx="8639472" cy="4801314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Cellular modems allow IoT devices to communicate through mobile operator networks without relying on local Wi-Fi infrastructure.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Essential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Cellular Modem: Provides network connectivity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SIM Card &amp; APN: Enable operator authentication and data 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Antenna: Supports reliable radio communication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UART Interface: Connects the modem to the ESP32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AT Commands: Configure, control, and query the modem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Engineering Considerations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Coverage and network availability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Power supply and peak current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Data plans and recurring costs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Network generation and modem compatibility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Cellular connectivity extends IoT deployments beyond Wi-Fi, but requires careful hardware, power, and network planning.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1C7570-26CC-7D54-E60D-25B65C189F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3933" y="3208867"/>
            <a:ext cx="4216400" cy="281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709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D4796-B1F5-1996-9594-F9CDBBA1C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2F98EC6-830E-16EC-BB80-D26D394A78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DADA8450-5527-5EB8-9A48-752DDF31B1A5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DB374A2B-ECFF-9D5C-42F3-4FDD001EE2E7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648C113-A9CF-37DA-4D6A-A22227A3B02B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0672285-1E8F-0B1E-4384-9BB92307805D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CCE18F-472D-20A9-9835-72BA5130CB48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LoRa &amp; </a:t>
            </a:r>
            <a:r>
              <a:rPr lang="en-US" sz="36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LoRaWAN</a:t>
            </a: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 Fundamentals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35AB8F-474B-81F9-F85B-D0AD48BCEF91}"/>
              </a:ext>
            </a:extLst>
          </p:cNvPr>
          <p:cNvSpPr txBox="1"/>
          <p:nvPr/>
        </p:nvSpPr>
        <p:spPr>
          <a:xfrm>
            <a:off x="970200" y="1874547"/>
            <a:ext cx="7496467" cy="397031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LoRa provides long-range, low-power radio communication, while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defines a networking protocol for connecting IoT devices through gateways.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Key Radio 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Spreading Factor (SF): Balances data rate, airtime, and link sensitivity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Bandwidth (BW): Influences transmission speed and receiver sensitivity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Coding Rate (CR): Adds error-correction redundancy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Time on Air: Affects energy use and network capacity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LoRa vs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LoRa: Radio modulation technology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: Network architecture, device management, and security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Long-range communication involves trade-offs between range, energy consumption, throughput, and network capacity.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C95070-8F39-C692-FA70-F9E919524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3911600"/>
            <a:ext cx="4419600" cy="294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0103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3591A-D417-B78C-D26E-A692C830A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F6CE0A8-29A8-57FA-3842-125D18CC6B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DA835899-2CD4-3238-6FE8-4965D48E6011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BC093B5-1CB7-091E-16A6-B1EED413F525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4797F7D-362C-D19A-447C-CA17E491EDB7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75362B3-06C0-2F85-5EF3-B543FAFB84D6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AB76BD-DC47-03E6-AE27-26110F554EB7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LoRaWAN</a:t>
            </a: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 Device Classes: A, B &amp; C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8309CC-6A02-8E9C-16C9-AB110244B113}"/>
              </a:ext>
            </a:extLst>
          </p:cNvPr>
          <p:cNvSpPr txBox="1"/>
          <p:nvPr/>
        </p:nvSpPr>
        <p:spPr>
          <a:xfrm>
            <a:off x="970200" y="1874547"/>
            <a:ext cx="7496467" cy="452431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defines different device classes to balance power consumption, downlink availability, and application requirements.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Device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Class A: Opens receive windows after each uplink transmission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Class B: Adds scheduled receive opportunities synchronized by beacons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Class C: Keeps the receiver open almost continuously, except during transmission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Engineering Trade-offs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Battery life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Downlink latency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Receive availability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Application complexity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Choose the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device class based on energy constraints and how frequently the device must receive messages.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73C7B8C-2262-621A-9442-98251CC1B0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0133" y="3559707"/>
            <a:ext cx="4258733" cy="2839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977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2628C3-45D0-44AE-9845-6F34BC753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0F08687-59A4-6F46-36D8-F2DB0E06BB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9BFD0EE-0566-7711-A949-5B883EF48F7A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D76E894-21B8-4535-CB9F-8476DF4616D3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808E8D3-0C9D-12AE-A419-0F2E81498491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527CE6B0-1803-91E1-80C0-14E80E5B82B1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ECEF49-3D3E-350F-B444-3BFF0F335C5D}"/>
              </a:ext>
            </a:extLst>
          </p:cNvPr>
          <p:cNvSpPr txBox="1"/>
          <p:nvPr/>
        </p:nvSpPr>
        <p:spPr>
          <a:xfrm>
            <a:off x="826954" y="1228216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LoRaWAN</a:t>
            </a:r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 Gateway &amp; </a:t>
            </a:r>
            <a:r>
              <a:rPr lang="en-US" sz="3600" b="1" dirty="0" err="1">
                <a:solidFill>
                  <a:srgbClr val="15032C"/>
                </a:solidFill>
                <a:latin typeface="Agency FB" panose="00010606040000040003" pitchFamily="2" charset="0"/>
              </a:rPr>
              <a:t>ChirpStack</a:t>
            </a:r>
            <a:endParaRPr lang="en-US" sz="3600" b="1" dirty="0">
              <a:solidFill>
                <a:srgbClr val="15032C"/>
              </a:solidFill>
              <a:latin typeface="Agency FB" panose="00010606040000040003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BDD02E6-4784-9C88-D228-DA82F7043576}"/>
              </a:ext>
            </a:extLst>
          </p:cNvPr>
          <p:cNvSpPr txBox="1"/>
          <p:nvPr/>
        </p:nvSpPr>
        <p:spPr>
          <a:xfrm>
            <a:off x="970200" y="1874547"/>
            <a:ext cx="7152229" cy="4247317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networks use gateways and a network server to connect low-power devices with IoT applications.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Core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End Devices: Transmit sensor data over LoRa radio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Gateway Concentrator: Receives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radio packets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Gateway Host: Forwards packets over an IP network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ChirpStack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: Manages devices, network sessions, and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traffic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Application Integration: Delivers telemetry to MQTT-based applications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Example Hardware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RAK2287 LoRa Concentrator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Raspberry Pi Gateway Host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A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gateway bridges radio communication to IP networks; the network server manages the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network and its devices.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DF2E26-20B8-00BF-88C0-4CE04DE079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5333" y="4279793"/>
            <a:ext cx="4656667" cy="232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010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AEFA9-8ADF-288A-B421-56954C20A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9CE3C9-98AA-943E-27B7-CC1FF056B6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80A9E31-871B-5569-CA46-7D67068FAE67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2AE5B72-482C-01F0-8CFF-186007BD0D13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242254D-29B3-6EDF-5478-D44D731C9AB6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A5EE463-4444-3AC3-6E15-B49BFF9B961F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4D17B59-4ED7-2789-7004-5E890BA85B8C}"/>
              </a:ext>
            </a:extLst>
          </p:cNvPr>
          <p:cNvSpPr txBox="1"/>
          <p:nvPr/>
        </p:nvSpPr>
        <p:spPr>
          <a:xfrm>
            <a:off x="826954" y="1108007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Choosing the Right IoT Connectivity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61F41E0-44B9-0CB8-83A0-F27126BC0A4C}"/>
              </a:ext>
            </a:extLst>
          </p:cNvPr>
          <p:cNvSpPr txBox="1"/>
          <p:nvPr/>
        </p:nvSpPr>
        <p:spPr>
          <a:xfrm>
            <a:off x="953865" y="1740636"/>
            <a:ext cx="7152229" cy="507831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The best IoT communication technology depends on application requirements, deployment conditions, and long-term operational constraints.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Selection Criteria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Coverage: Local, wide-area, or remote locations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Power Consumption: Mains-powered versus battery-operated devices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Data Requirements: Payload size and reporting frequency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Infrastructure: Wi-Fi, cellular coverage, or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gateways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Cost: Hardware, subscriptions, deployment, and maintenance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Latency &amp; Reliability: Required response time and availability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Typical Use Cases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Wi-Fi: Indoor monitoring with existing network infrastructure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Cellular: Remote sites with suitable operator coverage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: Distributed, low-data-rate sensor networks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There is no universally best connectivity technology—only the best fit for a particular engineering problem.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451C5A-FAEC-F56C-BDA3-DAFE92D968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4965" y="3572932"/>
            <a:ext cx="4356101" cy="2904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2945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1000">
              <a:srgbClr val="EEECE1"/>
            </a:gs>
            <a:gs pos="63000">
              <a:schemeClr val="bg1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A2C2D9-3746-3E26-B63C-78E7004E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5F68722-CCEB-D163-6B49-35D7551885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39" t="14827" r="67966" b="74466"/>
          <a:stretch>
            <a:fillRect/>
          </a:stretch>
        </p:blipFill>
        <p:spPr>
          <a:xfrm>
            <a:off x="9609672" y="252500"/>
            <a:ext cx="2687245" cy="864000"/>
          </a:xfrm>
          <a:prstGeom prst="roundRect">
            <a:avLst>
              <a:gd name="adj" fmla="val 15093"/>
            </a:avLst>
          </a:prstGeom>
          <a:ln>
            <a:solidFill>
              <a:schemeClr val="accent1">
                <a:lumMod val="50000"/>
              </a:schemeClr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DAE9DA8-BA91-7D3C-C9B9-713FFFF93D02}"/>
              </a:ext>
            </a:extLst>
          </p:cNvPr>
          <p:cNvGrpSpPr/>
          <p:nvPr/>
        </p:nvGrpSpPr>
        <p:grpSpPr>
          <a:xfrm rot="5400000">
            <a:off x="1172704" y="-2227539"/>
            <a:ext cx="877238" cy="5837314"/>
            <a:chOff x="5524152" y="-285893"/>
            <a:chExt cx="877238" cy="583731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3A69FA3B-4A88-8168-167A-3AFC310E66E0}"/>
                </a:ext>
              </a:extLst>
            </p:cNvPr>
            <p:cNvSpPr/>
            <p:nvPr/>
          </p:nvSpPr>
          <p:spPr>
            <a:xfrm>
              <a:off x="5524152" y="-285893"/>
              <a:ext cx="864000" cy="5837314"/>
            </a:xfrm>
            <a:prstGeom prst="roundRect">
              <a:avLst/>
            </a:prstGeom>
            <a:solidFill>
              <a:srgbClr val="15032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B2E9B56-7B35-BA4F-D4BC-E98F9A609EB7}"/>
                </a:ext>
              </a:extLst>
            </p:cNvPr>
            <p:cNvSpPr txBox="1"/>
            <p:nvPr/>
          </p:nvSpPr>
          <p:spPr>
            <a:xfrm rot="16200000">
              <a:off x="4158580" y="2296714"/>
              <a:ext cx="3962400" cy="523220"/>
            </a:xfrm>
            <a:prstGeom prst="rect">
              <a:avLst/>
            </a:prstGeom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>
                      <a:lumMod val="95000"/>
                    </a:schemeClr>
                  </a:solidFill>
                  <a:latin typeface="Agency FB" panose="00010606040000040003" pitchFamily="2" charset="0"/>
                </a:rPr>
                <a:t>NGT. Training  Department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5F6F4D7-AA26-2B72-DF8E-FBDD3D6AD20E}"/>
              </a:ext>
            </a:extLst>
          </p:cNvPr>
          <p:cNvSpPr txBox="1"/>
          <p:nvPr/>
        </p:nvSpPr>
        <p:spPr>
          <a:xfrm>
            <a:off x="-228706" y="209142"/>
            <a:ext cx="4925584" cy="55399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Advanced Internet of Things (</a:t>
            </a:r>
            <a:r>
              <a:rPr lang="en-US" sz="3000" b="1" dirty="0" err="1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IoT</a:t>
            </a: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Agency FB" panose="00010606040000040003" pitchFamily="2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D842E6-940B-EA1F-29C8-2FD91141C7C8}"/>
              </a:ext>
            </a:extLst>
          </p:cNvPr>
          <p:cNvSpPr txBox="1"/>
          <p:nvPr/>
        </p:nvSpPr>
        <p:spPr>
          <a:xfrm>
            <a:off x="826954" y="1108007"/>
            <a:ext cx="7739847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15032C"/>
                </a:solidFill>
                <a:latin typeface="Agency FB" panose="00010606040000040003" pitchFamily="2" charset="0"/>
              </a:rPr>
              <a:t>Final Engineering Review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F4AF7D3-85F6-C8A3-EA2E-6B817576D56F}"/>
              </a:ext>
            </a:extLst>
          </p:cNvPr>
          <p:cNvSpPr txBox="1"/>
          <p:nvPr/>
        </p:nvSpPr>
        <p:spPr>
          <a:xfrm>
            <a:off x="953865" y="1740636"/>
            <a:ext cx="8816668" cy="507831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From Prototype to Real-World IoT System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We started with a simple environmental sensor and evolved it into a foundation for engineering a connected IoT product.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Our Engineering Journey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Sensing &amp; Edge: ESP32, DHT22, OLED, Raspberry 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Connectivity: Wi-Fi, MQTT, HTTP, CoAP, Cellular &amp;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LoRaWAN</a:t>
            </a:r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Data &amp; Reliability: Telemetry, timestamps, buffering and recovery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Firmware Architecture: Modular design, </a:t>
            </a:r>
            <a:r>
              <a:rPr lang="en-US" b="1" dirty="0" err="1">
                <a:solidFill>
                  <a:srgbClr val="15032C"/>
                </a:solidFill>
                <a:latin typeface="Dosis" pitchFamily="2" charset="0"/>
              </a:rPr>
              <a:t>FreeRTOS</a:t>
            </a: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 tasks and queues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Security: Authentication, ACLs, TLS and credential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Maintenance: OTA updates, logging and remote operations</a:t>
            </a: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Final Engineering Questions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Will it work when the network fails?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Can we trust and protect the data?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Can we diagnose, update and recover the device?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Does the architecture fit the deployment environment?</a:t>
            </a:r>
          </a:p>
          <a:p>
            <a:endParaRPr lang="en-US" b="1" dirty="0">
              <a:solidFill>
                <a:srgbClr val="15032C"/>
              </a:solidFill>
              <a:latin typeface="Dosis" pitchFamily="2" charset="0"/>
            </a:endParaRPr>
          </a:p>
          <a:p>
            <a:r>
              <a:rPr lang="en-US" b="1" dirty="0">
                <a:solidFill>
                  <a:srgbClr val="15032C"/>
                </a:solidFill>
                <a:latin typeface="Dosis" pitchFamily="2" charset="0"/>
              </a:rPr>
              <a:t>Build IoT systems to operate, recover, evolve and remain secure—not merely to demonstrate that they work.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D0316B-8318-5304-E11C-D1C34687E9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5093" y="3073400"/>
            <a:ext cx="4584701" cy="3056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380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D0583-2951-DE74-3E92-E19CADC0A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CDD427-A1BC-05BD-2ED7-099B6186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BD9822-7644-444F-D9F2-540F92325E6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677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01 SLIDEBAZAR">
      <a:dk1>
        <a:sysClr val="windowText" lastClr="000000"/>
      </a:dk1>
      <a:lt1>
        <a:srgbClr val="FFFFFF"/>
      </a:lt1>
      <a:dk2>
        <a:srgbClr val="7F7F7F"/>
      </a:dk2>
      <a:lt2>
        <a:srgbClr val="F2F2F2"/>
      </a:lt2>
      <a:accent1>
        <a:srgbClr val="FC4954"/>
      </a:accent1>
      <a:accent2>
        <a:srgbClr val="01BF7F"/>
      </a:accent2>
      <a:accent3>
        <a:srgbClr val="41B5E0"/>
      </a:accent3>
      <a:accent4>
        <a:srgbClr val="7969D0"/>
      </a:accent4>
      <a:accent5>
        <a:srgbClr val="2882EC"/>
      </a:accent5>
      <a:accent6>
        <a:srgbClr val="FCA81C"/>
      </a:accent6>
      <a:hlink>
        <a:srgbClr val="3A86FF"/>
      </a:hlink>
      <a:folHlink>
        <a:srgbClr val="8338EC"/>
      </a:folHlink>
    </a:clrScheme>
    <a:fontScheme name="01">
      <a:majorFont>
        <a:latin typeface="Archivo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21907</TotalTime>
  <Words>5011</Words>
  <Application>Microsoft Macintosh PowerPoint</Application>
  <PresentationFormat>Widescreen</PresentationFormat>
  <Paragraphs>749</Paragraphs>
  <Slides>50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9" baseType="lpstr">
      <vt:lpstr>Arial Unicode MS</vt:lpstr>
      <vt:lpstr>Agency FB</vt:lpstr>
      <vt:lpstr>Aptos</vt:lpstr>
      <vt:lpstr>Archivo</vt:lpstr>
      <vt:lpstr>Arial</vt:lpstr>
      <vt:lpstr>Dosis</vt:lpstr>
      <vt:lpstr>Poppins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ajisha vm</dc:creator>
  <cp:lastModifiedBy>Mohammad Matin Naseri</cp:lastModifiedBy>
  <cp:revision>82</cp:revision>
  <dcterms:created xsi:type="dcterms:W3CDTF">2024-09-18T09:18:35Z</dcterms:created>
  <dcterms:modified xsi:type="dcterms:W3CDTF">2026-10-22T10:43:25Z</dcterms:modified>
</cp:coreProperties>
</file>