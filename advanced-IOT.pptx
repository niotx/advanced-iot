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7" r:id="rId2"/>
    <p:sldId id="259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2" r:id="rId16"/>
    <p:sldId id="273" r:id="rId17"/>
    <p:sldId id="274" r:id="rId18"/>
    <p:sldId id="275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572" userDrawn="1">
          <p15:clr>
            <a:srgbClr val="A4A3A4"/>
          </p15:clr>
        </p15:guide>
        <p15:guide id="4" pos="7151" userDrawn="1">
          <p15:clr>
            <a:srgbClr val="A4A3A4"/>
          </p15:clr>
        </p15:guide>
        <p15:guide id="5" pos="529" userDrawn="1">
          <p15:clr>
            <a:srgbClr val="A4A3A4"/>
          </p15:clr>
        </p15:guide>
        <p15:guide id="6" pos="3024" userDrawn="1">
          <p15:clr>
            <a:srgbClr val="A4A3A4"/>
          </p15:clr>
        </p15:guide>
        <p15:guide id="7" pos="3250" userDrawn="1">
          <p15:clr>
            <a:srgbClr val="A4A3A4"/>
          </p15:clr>
        </p15:guide>
        <p15:guide id="8" orient="horz" pos="370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FBFBFB"/>
    <a:srgbClr val="15032C"/>
    <a:srgbClr val="EEECE1"/>
    <a:srgbClr val="EEECFF"/>
    <a:srgbClr val="EEEEEB"/>
    <a:srgbClr val="1804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D896BAB-7E5F-42CC-AFD2-A27697842B1E}" v="7" dt="2024-09-23T06:06:13.5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60" d="100"/>
          <a:sy n="60" d="100"/>
        </p:scale>
        <p:origin x="96" y="1110"/>
      </p:cViewPr>
      <p:guideLst>
        <p:guide orient="horz" pos="2137"/>
        <p:guide pos="3840"/>
        <p:guide orient="horz" pos="572"/>
        <p:guide pos="7151"/>
        <p:guide pos="529"/>
        <p:guide pos="3024"/>
        <p:guide pos="3250"/>
        <p:guide orient="horz" pos="370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jisha vm" userId="75d9e9c9-0067-4356-b55a-ce365df424e0" providerId="ADAL" clId="{FD896BAB-7E5F-42CC-AFD2-A27697842B1E}"/>
    <pc:docChg chg="undo custSel modSld">
      <pc:chgData name="ajisha vm" userId="75d9e9c9-0067-4356-b55a-ce365df424e0" providerId="ADAL" clId="{FD896BAB-7E5F-42CC-AFD2-A27697842B1E}" dt="2024-09-23T06:06:13.554" v="46"/>
      <pc:docMkLst>
        <pc:docMk/>
      </pc:docMkLst>
      <pc:sldChg chg="addSp modSp mod">
        <pc:chgData name="ajisha vm" userId="75d9e9c9-0067-4356-b55a-ce365df424e0" providerId="ADAL" clId="{FD896BAB-7E5F-42CC-AFD2-A27697842B1E}" dt="2024-09-23T06:06:05.549" v="44" actId="1076"/>
        <pc:sldMkLst>
          <pc:docMk/>
          <pc:sldMk cId="1689639929" sldId="256"/>
        </pc:sldMkLst>
        <pc:spChg chg="mod">
          <ac:chgData name="ajisha vm" userId="75d9e9c9-0067-4356-b55a-ce365df424e0" providerId="ADAL" clId="{FD896BAB-7E5F-42CC-AFD2-A27697842B1E}" dt="2024-09-23T05:47:23.151" v="22" actId="20577"/>
          <ac:spMkLst>
            <pc:docMk/>
            <pc:sldMk cId="1689639929" sldId="256"/>
            <ac:spMk id="100" creationId="{D1E9DAD2-47CA-7015-A767-820245548EAE}"/>
          </ac:spMkLst>
        </pc:spChg>
        <pc:spChg chg="mod">
          <ac:chgData name="ajisha vm" userId="75d9e9c9-0067-4356-b55a-ce365df424e0" providerId="ADAL" clId="{FD896BAB-7E5F-42CC-AFD2-A27697842B1E}" dt="2024-09-23T05:46:24.708" v="7" actId="20577"/>
          <ac:spMkLst>
            <pc:docMk/>
            <pc:sldMk cId="1689639929" sldId="256"/>
            <ac:spMk id="238" creationId="{69961449-DAC5-42D7-274D-4236548CA5C7}"/>
          </ac:spMkLst>
        </pc:spChg>
        <pc:picChg chg="add mod">
          <ac:chgData name="ajisha vm" userId="75d9e9c9-0067-4356-b55a-ce365df424e0" providerId="ADAL" clId="{FD896BAB-7E5F-42CC-AFD2-A27697842B1E}" dt="2024-09-23T06:06:05.549" v="44" actId="1076"/>
          <ac:picMkLst>
            <pc:docMk/>
            <pc:sldMk cId="1689639929" sldId="256"/>
            <ac:picMk id="2" creationId="{617551E4-BD5E-2999-BC05-2BD896CF42DB}"/>
          </ac:picMkLst>
        </pc:picChg>
      </pc:sldChg>
      <pc:sldChg chg="addSp delSp modSp mod">
        <pc:chgData name="ajisha vm" userId="75d9e9c9-0067-4356-b55a-ce365df424e0" providerId="ADAL" clId="{FD896BAB-7E5F-42CC-AFD2-A27697842B1E}" dt="2024-09-23T06:06:13.554" v="46"/>
        <pc:sldMkLst>
          <pc:docMk/>
          <pc:sldMk cId="4138204391" sldId="257"/>
        </pc:sldMkLst>
        <pc:spChg chg="add mod">
          <ac:chgData name="ajisha vm" userId="75d9e9c9-0067-4356-b55a-ce365df424e0" providerId="ADAL" clId="{FD896BAB-7E5F-42CC-AFD2-A27697842B1E}" dt="2024-09-23T05:47:10.929" v="19"/>
          <ac:spMkLst>
            <pc:docMk/>
            <pc:sldMk cId="4138204391" sldId="257"/>
            <ac:spMk id="2" creationId="{0A216051-7359-74CF-6839-9A5B83332110}"/>
          </ac:spMkLst>
        </pc:spChg>
        <pc:spChg chg="add mod">
          <ac:chgData name="ajisha vm" userId="75d9e9c9-0067-4356-b55a-ce365df424e0" providerId="ADAL" clId="{FD896BAB-7E5F-42CC-AFD2-A27697842B1E}" dt="2024-09-23T05:47:32.830" v="24"/>
          <ac:spMkLst>
            <pc:docMk/>
            <pc:sldMk cId="4138204391" sldId="257"/>
            <ac:spMk id="3" creationId="{1CB537DA-F4B0-448C-CEB0-DE8BB1BBBC4C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8" creationId="{5D72BC32-3FA0-B1DF-DD19-7EE2ECAEF517}"/>
          </ac:spMkLst>
        </pc:spChg>
        <pc:spChg chg="mod">
          <ac:chgData name="ajisha vm" userId="75d9e9c9-0067-4356-b55a-ce365df424e0" providerId="ADAL" clId="{FD896BAB-7E5F-42CC-AFD2-A27697842B1E}" dt="2024-09-23T06:05:08.198" v="34" actId="1076"/>
          <ac:spMkLst>
            <pc:docMk/>
            <pc:sldMk cId="4138204391" sldId="257"/>
            <ac:spMk id="12" creationId="{57779A2A-A42B-5361-1A2B-0483432784F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2" creationId="{B6933E36-1290-9D45-BE5A-E413CB95B3C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3" creationId="{189B5731-C5E5-6348-EF64-20CFCBE6E490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" creationId="{75697FBB-58A4-763D-F7C3-C47C464DB3A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1" creationId="{20BE7FCB-5F26-32ED-C25E-FB728FCA555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3" creationId="{FF631491-C19B-8681-77D8-15699F21F6E0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4" creationId="{FEDED12D-A569-A917-35A7-96F4E57400A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5" creationId="{CE64F615-A5D7-747F-CF3E-5B7B70A2098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7" creationId="{05B7D415-0EE9-8163-0422-A4F4BA859F81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9" creationId="{97DFD1F3-C169-8EC6-A1E1-EAF1DC8B01D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41" creationId="{2B13988E-A6A9-B380-CAF5-E5B7FB9FD55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43" creationId="{95AF8CD4-FC13-6971-60C9-0E0C9D3DBE3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44" creationId="{9DA2F341-277F-CE38-899E-E7F576F8F325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46" creationId="{303B1777-CEFD-812D-8C4A-40808E39B53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47" creationId="{DDB6555D-523D-2B66-26CA-C8A915A84B9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49" creationId="{BC611B67-EDE9-87BB-520D-578993948D91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51" creationId="{6FD74C52-E0E3-3E07-7BA3-725B731CC66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55" creationId="{E5343464-1159-5B38-A999-2582E3F444DD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57" creationId="{E0B49E88-DA42-FB90-30E5-4CD4A356701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58" creationId="{504BB458-E28C-39E2-3F3E-5A390F918410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61" creationId="{E5292BB9-87DE-6336-F6C6-5E3519E60F11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62" creationId="{3DC3CA1C-15AE-8E6B-153E-EC9054DE96F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65" creationId="{E5DE481F-B75A-DF50-C16C-9EF86067C0DD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66" creationId="{2A664774-B30A-D411-7144-4363D8B244B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67" creationId="{24976143-F919-E038-B061-23C3B6C0C3EC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89" creationId="{970BC431-A583-0087-E6BA-DED641740B82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90" creationId="{5D95423A-8088-4DA6-4FB8-9EB3B6E8F3E0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91" creationId="{E9E904AA-91D8-2A65-8822-852B6056A4C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95" creationId="{04E7813D-C23D-B2B7-31D4-03BCE4FF60AE}"/>
          </ac:spMkLst>
        </pc:spChg>
        <pc:spChg chg="del">
          <ac:chgData name="ajisha vm" userId="75d9e9c9-0067-4356-b55a-ce365df424e0" providerId="ADAL" clId="{FD896BAB-7E5F-42CC-AFD2-A27697842B1E}" dt="2024-09-23T05:47:31.710" v="23" actId="478"/>
          <ac:spMkLst>
            <pc:docMk/>
            <pc:sldMk cId="4138204391" sldId="257"/>
            <ac:spMk id="100" creationId="{D1E9DAD2-47CA-7015-A767-820245548EA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01" creationId="{D6F0EA73-B5C7-A5B9-97D6-4EE58B75DEF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03" creationId="{F00B3997-C1E9-8CB1-EF46-A73E913BA7C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05" creationId="{B241FF1C-141B-E5DB-70E6-EEF5B510CA7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07" creationId="{FF19013A-2F9F-67A1-8D46-0FA08712758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09" creationId="{FD678216-F903-1062-B2CB-9FC26EE0A752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13" creationId="{4DDCDD72-3902-E186-950C-8B9C8E4ED98A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15" creationId="{849F28C7-10A6-C51A-688A-175FA8185E1D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17" creationId="{40285C1A-65B3-EE4E-15F0-423A28310FC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18" creationId="{1DC3F02C-4CD2-9728-0792-71265149D68B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19" creationId="{1938A6E7-8AF8-6A14-6E69-01928D87598D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20" creationId="{EE98AB05-DD23-6092-13B0-3150366C4767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26" creationId="{BDB808FE-2D1C-9EF8-5BE9-6CA388228565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32" creationId="{9F5D5C8C-B5DE-D7CD-69CB-9AF176651D4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58" creationId="{D4B0DD36-42A8-8499-EEFE-E01C85A5BAB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59" creationId="{F5D21DD5-0CCA-BA7E-F227-0BBAB406E32C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78" creationId="{A3AC4A31-4D44-3815-B396-3E37C5C9243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89" creationId="{5BA28709-85EB-665D-9775-5D5E4373C38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90" creationId="{8F372BCB-8DEC-A35A-B0C7-42C0263A7FC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93" creationId="{289BF8B6-FDA5-DC7C-26AF-A5B5024AE191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34" creationId="{485E5EED-FC79-6FEC-069A-373A0DD1CB93}"/>
          </ac:spMkLst>
        </pc:spChg>
        <pc:spChg chg="del topLvl">
          <ac:chgData name="ajisha vm" userId="75d9e9c9-0067-4356-b55a-ce365df424e0" providerId="ADAL" clId="{FD896BAB-7E5F-42CC-AFD2-A27697842B1E}" dt="2024-09-23T05:47:10.074" v="18" actId="478"/>
          <ac:spMkLst>
            <pc:docMk/>
            <pc:sldMk cId="4138204391" sldId="257"/>
            <ac:spMk id="238" creationId="{69961449-DAC5-42D7-274D-4236548CA5C7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39" creationId="{138EE018-88C1-F6BB-9765-FCF3CB15AB41}"/>
          </ac:spMkLst>
        </pc:spChg>
        <pc:spChg chg="topLvl">
          <ac:chgData name="ajisha vm" userId="75d9e9c9-0067-4356-b55a-ce365df424e0" providerId="ADAL" clId="{FD896BAB-7E5F-42CC-AFD2-A27697842B1E}" dt="2024-09-23T05:47:10.074" v="18" actId="478"/>
          <ac:spMkLst>
            <pc:docMk/>
            <pc:sldMk cId="4138204391" sldId="257"/>
            <ac:spMk id="240" creationId="{2C5144DF-A89D-AF82-5309-9FE6D3D0A577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42" creationId="{134A13F1-79E3-3815-8D9E-23C21C4FCEB3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43" creationId="{7C04E735-18EF-2993-EB07-56640BFDEC7C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45" creationId="{88823CDC-6C5F-F9A2-FEC8-F96D294269B6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46" creationId="{10F689CE-CAC7-E882-5EED-7E202B51CBD2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47" creationId="{D889B195-BE18-D82F-16E4-8071BC3220F5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48" creationId="{1E289CF1-9BEB-1416-AEDF-DAD15D37E7EF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0" creationId="{206D6DCC-3A2B-B50F-0DBC-E398C241D01D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1" creationId="{7CE82BAC-8FAB-6659-0E09-FBC015FFBC18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2" creationId="{1C56B629-84FD-206D-362B-20BD52C3EC4B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3" creationId="{CD59FEA9-3418-4BE8-2608-2716A5EDEC7F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4" creationId="{D449AB98-A4A1-E6C8-0C94-AF1CE880EBAA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6" creationId="{E42F176E-0919-509B-FBE8-F2EA627960BF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7" creationId="{C277FD70-B5B2-F358-305E-19933259A08E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8" creationId="{4418E2BF-8088-3133-8300-5A1DFD7D921A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9" creationId="{7EA5B3AA-A7B7-0F6D-B3EC-91B026B47868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60" creationId="{98B237F6-F36F-3D98-A5F6-510CC32AD514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61" creationId="{D82E0A92-C9CC-832F-18EE-38C24EC1AA82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62" creationId="{67A0F83E-FEF2-5568-30F4-BD35666D1F5A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3" creationId="{1E3AC68E-548A-9EE2-9D12-2CB160BB7F8C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4" creationId="{4B92683D-036A-EDD4-6CF5-E462C00CAE30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5" creationId="{03B0E511-5E88-24B2-928F-B1C5B1F1265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6" creationId="{AB4696AE-3F24-590B-F3C2-0D5B3B506AF1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7" creationId="{F33B39C5-4D82-B4DA-70F2-5D1B4B9973F1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8" creationId="{A6A6721A-276F-44F2-A21D-0861DF97038B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9" creationId="{912A15BD-820F-08C6-F187-9A29046F233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0" creationId="{CC6E3A3D-49EC-C045-0931-5FB9C818E008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1" creationId="{387FFFAC-17E6-79AA-023B-6BDC0BC5033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3" creationId="{83CCC772-DE84-11EF-065D-C23BA2B2D7AD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4" creationId="{46E4F42C-FF29-202E-D446-46FE0C1CBA7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5" creationId="{B8A72404-6079-8A96-15E3-AD0C861645E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6" creationId="{958AD78B-02F0-E701-A76D-29F6C2C7408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7" creationId="{B8999EF8-2C99-5CA6-DE84-1B9B5EDA54D8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8" creationId="{4F88D689-1B44-1A6E-0D8B-D028E02BA2CD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9" creationId="{59B374EE-B65A-B95C-3E82-DD618BD686F1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0" creationId="{485356AD-D6B5-2149-F7F6-C96F341F5E12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1" creationId="{0502816F-922D-73FE-32B0-D95C1550F98C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2" creationId="{68CC3C39-E1A3-0DE9-E1C9-92FE1756A177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3" creationId="{7FA809AE-25BB-F02D-652C-4C4243C9BBF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4" creationId="{C38FAFED-7AC0-3E97-312E-A92AEDE95E3B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5" creationId="{B7106B33-3115-64E2-F070-695A27A33C5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6" creationId="{B56BBF0D-8AE1-788B-3BB2-AD38AD5ABB69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7" creationId="{83AF4E58-9282-0FC6-80D0-363A1972ABE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8" creationId="{F371066E-3579-1634-E558-9FB2E6BDE3E2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9" creationId="{B7A754E8-668B-7F9F-FABF-96379DD0C19A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0" creationId="{707A5F6F-B273-D2F5-072E-A22F53A51979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1" creationId="{EFF1C787-153D-0A30-A4BF-6A269AD6EE98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3" creationId="{88BDA37A-0F44-9C2A-4295-9458BCE63F5B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4" creationId="{1E04F503-64F4-8F7C-0E72-2CD396D7295B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5" creationId="{97CFE797-13F1-0F8B-1C66-43F380ADC45B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6" creationId="{87F0A523-EB03-4D03-C229-C35510CF5BF7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7" creationId="{A3F452B4-F87B-FB2F-6172-8DFEF6503A8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8" creationId="{144A5466-A1D3-4254-4159-A00F276D0A65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9" creationId="{5F30DD10-98A1-43C3-A64F-E23EBB90C4AA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00" creationId="{69266EE4-9160-B616-A9FD-AD0860392C6A}"/>
          </ac:spMkLst>
        </pc:spChg>
        <pc:grpChg chg="del mod">
          <ac:chgData name="ajisha vm" userId="75d9e9c9-0067-4356-b55a-ce365df424e0" providerId="ADAL" clId="{FD896BAB-7E5F-42CC-AFD2-A27697842B1E}" dt="2024-09-23T06:05:04.208" v="32" actId="165"/>
          <ac:grpSpMkLst>
            <pc:docMk/>
            <pc:sldMk cId="4138204391" sldId="257"/>
            <ac:grpSpMk id="6" creationId="{1105652A-5FF4-37B1-B5D8-315BED207C5A}"/>
          </ac:grpSpMkLst>
        </pc:grpChg>
        <pc:grpChg chg="del mod topLvl">
          <ac:chgData name="ajisha vm" userId="75d9e9c9-0067-4356-b55a-ce365df424e0" providerId="ADAL" clId="{FD896BAB-7E5F-42CC-AFD2-A27697842B1E}" dt="2024-09-23T06:05:11.203" v="35" actId="165"/>
          <ac:grpSpMkLst>
            <pc:docMk/>
            <pc:sldMk cId="4138204391" sldId="257"/>
            <ac:grpSpMk id="7" creationId="{7000F379-DF58-3541-6E7D-E3664D5773CD}"/>
          </ac:grpSpMkLst>
        </pc:grpChg>
        <pc:grpChg chg="del mod topLvl">
          <ac:chgData name="ajisha vm" userId="75d9e9c9-0067-4356-b55a-ce365df424e0" providerId="ADAL" clId="{FD896BAB-7E5F-42CC-AFD2-A27697842B1E}" dt="2024-09-23T06:05:11.203" v="35" actId="165"/>
          <ac:grpSpMkLst>
            <pc:docMk/>
            <pc:sldMk cId="4138204391" sldId="257"/>
            <ac:grpSpMk id="53" creationId="{DBB3E9E2-AEC9-E578-94C9-B4C1192B088B}"/>
          </ac:grpSpMkLst>
        </pc:grpChg>
        <pc:grpChg chg="del mod topLvl">
          <ac:chgData name="ajisha vm" userId="75d9e9c9-0067-4356-b55a-ce365df424e0" providerId="ADAL" clId="{FD896BAB-7E5F-42CC-AFD2-A27697842B1E}" dt="2024-09-23T06:05:11.203" v="35" actId="165"/>
          <ac:grpSpMkLst>
            <pc:docMk/>
            <pc:sldMk cId="4138204391" sldId="257"/>
            <ac:grpSpMk id="111" creationId="{71D98EFA-81E6-333B-0AB1-22716478A133}"/>
          </ac:grpSpMkLst>
        </pc:grpChg>
        <pc:grpChg chg="del mod topLvl">
          <ac:chgData name="ajisha vm" userId="75d9e9c9-0067-4356-b55a-ce365df424e0" providerId="ADAL" clId="{FD896BAB-7E5F-42CC-AFD2-A27697842B1E}" dt="2024-09-23T06:05:18.669" v="36" actId="478"/>
          <ac:grpSpMkLst>
            <pc:docMk/>
            <pc:sldMk cId="4138204391" sldId="257"/>
            <ac:grpSpMk id="208" creationId="{BD673951-F727-D10C-D9A2-B334D57817D3}"/>
          </ac:grpSpMkLst>
        </pc:grpChg>
        <pc:grpChg chg="del">
          <ac:chgData name="ajisha vm" userId="75d9e9c9-0067-4356-b55a-ce365df424e0" providerId="ADAL" clId="{FD896BAB-7E5F-42CC-AFD2-A27697842B1E}" dt="2024-09-23T05:47:10.074" v="18" actId="478"/>
          <ac:grpSpMkLst>
            <pc:docMk/>
            <pc:sldMk cId="4138204391" sldId="257"/>
            <ac:grpSpMk id="241" creationId="{49396023-F252-2195-15E3-82341210EE18}"/>
          </ac:grpSpMkLst>
        </pc:grpChg>
        <pc:grpChg chg="del mod topLvl">
          <ac:chgData name="ajisha vm" userId="75d9e9c9-0067-4356-b55a-ce365df424e0" providerId="ADAL" clId="{FD896BAB-7E5F-42CC-AFD2-A27697842B1E}" dt="2024-09-23T06:05:18.669" v="36" actId="478"/>
          <ac:grpSpMkLst>
            <pc:docMk/>
            <pc:sldMk cId="4138204391" sldId="257"/>
            <ac:grpSpMk id="244" creationId="{30997E12-48F1-14AD-784F-CFD6BBF74378}"/>
          </ac:grpSpMkLst>
        </pc:grpChg>
        <pc:grpChg chg="del mod topLvl">
          <ac:chgData name="ajisha vm" userId="75d9e9c9-0067-4356-b55a-ce365df424e0" providerId="ADAL" clId="{FD896BAB-7E5F-42CC-AFD2-A27697842B1E}" dt="2024-09-23T06:05:18.669" v="36" actId="478"/>
          <ac:grpSpMkLst>
            <pc:docMk/>
            <pc:sldMk cId="4138204391" sldId="257"/>
            <ac:grpSpMk id="249" creationId="{53729163-BF47-DA78-1E74-FEDF3EAF01B5}"/>
          </ac:grpSpMkLst>
        </pc:grpChg>
        <pc:grpChg chg="del mod topLvl">
          <ac:chgData name="ajisha vm" userId="75d9e9c9-0067-4356-b55a-ce365df424e0" providerId="ADAL" clId="{FD896BAB-7E5F-42CC-AFD2-A27697842B1E}" dt="2024-09-23T06:05:18.669" v="36" actId="478"/>
          <ac:grpSpMkLst>
            <pc:docMk/>
            <pc:sldMk cId="4138204391" sldId="257"/>
            <ac:grpSpMk id="255" creationId="{3E04E6A3-29A6-17A2-F4E3-7E2674E3D4E8}"/>
          </ac:grpSpMkLst>
        </pc:grpChg>
        <pc:grpChg chg="del mod topLvl">
          <ac:chgData name="ajisha vm" userId="75d9e9c9-0067-4356-b55a-ce365df424e0" providerId="ADAL" clId="{FD896BAB-7E5F-42CC-AFD2-A27697842B1E}" dt="2024-09-23T06:05:11.203" v="35" actId="165"/>
          <ac:grpSpMkLst>
            <pc:docMk/>
            <pc:sldMk cId="4138204391" sldId="257"/>
            <ac:grpSpMk id="272" creationId="{65AEAEB7-75AD-F4F0-23B6-D73B2A69E115}"/>
          </ac:grpSpMkLst>
        </pc:grpChg>
        <pc:grpChg chg="del mod topLvl">
          <ac:chgData name="ajisha vm" userId="75d9e9c9-0067-4356-b55a-ce365df424e0" providerId="ADAL" clId="{FD896BAB-7E5F-42CC-AFD2-A27697842B1E}" dt="2024-09-23T06:05:11.203" v="35" actId="165"/>
          <ac:grpSpMkLst>
            <pc:docMk/>
            <pc:sldMk cId="4138204391" sldId="257"/>
            <ac:grpSpMk id="292" creationId="{AD216F4B-A4E3-661D-289A-FB781853C4E7}"/>
          </ac:grpSpMkLst>
        </pc:grpChg>
        <pc:picChg chg="add del mod">
          <ac:chgData name="ajisha vm" userId="75d9e9c9-0067-4356-b55a-ce365df424e0" providerId="ADAL" clId="{FD896BAB-7E5F-42CC-AFD2-A27697842B1E}" dt="2024-09-23T06:04:51.114" v="31" actId="27803"/>
          <ac:picMkLst>
            <pc:docMk/>
            <pc:sldMk cId="4138204391" sldId="257"/>
            <ac:picMk id="5" creationId="{AA680F0D-3DA7-8212-B058-BF67BA156E11}"/>
          </ac:picMkLst>
        </pc:picChg>
        <pc:picChg chg="add del mod">
          <ac:chgData name="ajisha vm" userId="75d9e9c9-0067-4356-b55a-ce365df424e0" providerId="ADAL" clId="{FD896BAB-7E5F-42CC-AFD2-A27697842B1E}" dt="2024-09-23T06:06:12.304" v="45" actId="478"/>
          <ac:picMkLst>
            <pc:docMk/>
            <pc:sldMk cId="4138204391" sldId="257"/>
            <ac:picMk id="302" creationId="{0F67997F-D45B-921A-C3CA-55DCE26483B4}"/>
          </ac:picMkLst>
        </pc:picChg>
        <pc:picChg chg="add mod">
          <ac:chgData name="ajisha vm" userId="75d9e9c9-0067-4356-b55a-ce365df424e0" providerId="ADAL" clId="{FD896BAB-7E5F-42CC-AFD2-A27697842B1E}" dt="2024-09-23T06:06:13.554" v="46"/>
          <ac:picMkLst>
            <pc:docMk/>
            <pc:sldMk cId="4138204391" sldId="257"/>
            <ac:picMk id="303" creationId="{70768459-8631-734B-4A73-5563CD14312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C7ADFA-E0D6-45D7-9D88-1165CE068AB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1ED611-F729-4D3E-BEFC-1E1C56359E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53061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26915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14FA9-7287-B923-35C7-3186EA601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40BA1B-FFE8-5CB5-8009-D5B1CAA477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056DA9-BE68-1946-043B-43DA339EC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2D7FB-13FD-9620-9770-A7707504E0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77198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16622-3FB5-AE26-9240-2B3EBCA03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E690B8-5252-65D9-F26B-4337B02F0A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2F5E4-AB33-21D4-30EB-3B2BF43829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3BF4-1D24-AAA1-C5AB-023A3D407D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7912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73968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DFA48-D034-DC7A-451E-1FEEA22A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B0A8D4-477A-B065-F17A-9DCB0F9B1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197414-77E3-CB11-70BE-97E4E2D2C5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0C372-4577-55E9-2C95-A39EEEE8AD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55599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1AD25-DA0A-6F91-783D-ACA9974F3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46E446-32CF-E04E-B200-DD7395A4EA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AFDDC5-0B40-5D7B-C0CC-8439836F0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F53B2-AD45-14DB-9987-662AF8D462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7696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9EF86-4F1B-E6B8-4D51-7C178B270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938D50-08A0-1B55-6ED8-020056E18B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C04EC7-CAA8-B8AA-F990-18316788E0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9D68C-E3C7-5F61-C3A6-A61010313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16362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F737F-30C0-6EA7-1AAE-D513B5791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7B3BCD-3EAE-DEDD-5621-FB0FF34616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E1B550-9D3C-CE1F-FD3A-4FA2630883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148A8-A110-2C82-060F-A7D4FF578A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7651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41A6D-98E2-FE6D-CA90-A89126C99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1C70E-06AF-E454-937A-83976B5A09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EA09CC-6B5F-930B-471A-A3EF157D44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BA5F71-5558-5634-6E45-7CB6D027F5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75257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2653C-4F00-E4F7-4F82-C1C9254BE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9FD51E-18E7-D36F-BFAF-56C4888C66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BAC86F-90A9-AD96-BC11-A9E5EF054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794E41-7E84-366A-0050-391DF8509F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95408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2BF8E-9C22-23D3-5FB7-7EC404C5C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F3F444-8F8A-4003-B4F5-AAA3643C18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30EEA3-E497-B7FC-56BE-C0CB325BEF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422528-078A-B414-2E8E-666A89BF5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09636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78DE4-66D8-0565-1349-32B0DBD6F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02000A-F5A2-9D37-32ED-EE49CC5563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EA6D93-0ACA-DC02-E315-1AAE02EDC8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6859C-AABB-9A6C-4107-6898868A5C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57978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8D652-3857-EDEF-4943-E60CE891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E5A85A-4498-A0F1-BD0B-E2FACB3B88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E50DA7-15DF-C3F9-12BB-B2B07F62FD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541375-F4ED-7CDE-D0AB-6DE6832E5D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80839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3B49C-870D-129F-E2E5-D820D79BE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F0F303-DF92-CDC3-40E4-D60011C3E2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5062C1-3F7B-478F-637C-85D6783CE0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66928-C61C-D396-C09F-E816090BAF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42045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23008-CB84-F7D7-42FE-2B49C01BD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556820-5976-9CCA-BAE9-1EA40A558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C7FA6E-360F-491D-A62F-D92B26DCFB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483329-8DBA-0246-8FCD-A5D4F373A8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20959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A057D-B00C-F0A6-D4D1-12BD44416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2AD6F9-4ED3-534A-6D74-0353A660BF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714CC7-EA68-6F75-D08E-61E3E301B6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75DF98-DD91-FDB9-EC2C-FE9CF53073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98994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769F5-E1A3-41A4-79DC-4BBCC3C56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FEAEC9-56F3-8B91-2200-0E0342F535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F74741-4421-19E6-E059-C6C62C8215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659C38-22D3-BA41-C904-DACD46F16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95360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7DD72-234F-63CD-B455-847BC850C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326088-9865-CB2C-BAD3-0174AE200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A10BA4-ECC6-8E6B-1C99-9CE36D120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7158EA-58E1-8A6E-F170-5EF4523A93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07746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123E1-C10B-713E-2D57-B9A87DCAC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A4F0EA-1649-E2F9-0F26-32F6919D92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400635-2074-6D26-C2F2-42B6E81CE9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CE930-6840-AFFA-7152-290A750F5E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266321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71110-D6A3-AB97-C82D-99FACB3AB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A81D4-A384-D26A-FD3A-B5C9CA8608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EA96BB-CCEE-BBE5-3A9B-5811A4B70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5A224E-A839-838F-7970-DC7C36D4E6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18245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1A5ED-BFAB-5F71-187E-21F9B8F02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6B1CF7-86C0-EA68-6BF4-7C1D5A1C77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C57CD0-600F-7CCE-AB23-FE5A2C306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4B9527-CC55-87E6-91AD-1DEA7BD39B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73424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34AA1-3096-6E51-519A-AD79EA1F1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0E9F97-3540-0513-0B94-4D92C0F9C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1F3F6E-51B7-AA98-CE0E-8316AC2B8D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CAF56-A6CC-FA86-F71C-6B63E41462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318899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F478A-FA0B-4C31-E566-6CCC32F8C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58D42-AFC1-670C-C8BA-0867A4F292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2D00C7-5863-FE7D-88FD-2B6629054F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2F384-76F8-E078-13EB-4F6A4C8F9B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22533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F14E5-68AE-6626-47AD-FB2BEC0D1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7B43C4-B138-A639-8A99-697B9C083E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61EC85-AA53-62F0-3223-F076947124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047075-5260-AD9E-5540-F48D894A0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86965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ABA80-58C4-049F-2EB7-5C88EB9A7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CC04A5-68CC-6373-0268-1A1A94CEE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BB445A-BE10-B22A-30F7-273142F12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180A2-6044-9F1F-8A2E-9B2E947D1D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6072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4E3D4-E3FA-CB8E-8400-6D2C307AC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ADE7B2-2AA3-FA17-6065-66E6C9271D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6D3BBB-E8F9-3174-30DB-916C7CD42F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91EFB6-E8A7-E9C9-9668-D126852E09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23776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1D306-43FB-2E89-62AD-8D312D65B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1391A4-EB35-8AD9-6E84-A048FEF05C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A8754E-B5EC-706C-B719-36E5362F46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DA233-0E25-6787-281F-38ADF739EE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419624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B9183-1F0F-DA35-90BB-F442C8B90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8AB887-9D1B-60D5-256B-89D966862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AA2547-DE5A-7EE8-1B7A-CFB0D10DFE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39FB71-CEFE-7FEB-D271-1FB71D2C6F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7118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E6A1F-E8A2-BC81-F9E9-633CB61EBA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1CD3C0-AEC5-B8CA-94BB-7BF2E48AD6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48E7E7-E107-0A2C-8466-7A18371CE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D5B238-F884-FBFD-9EA1-7FD354730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91A70-D098-4B31-5F03-E0A3829A0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11700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F6DE-8BD5-94C5-C8E1-0B5E5537E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25377-4473-153F-9F5B-D794423099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593B80-9792-D46B-638A-415B9A68F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D0B451-D0D0-8318-1B4F-41E9D0A6F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D65900-3ECC-9D59-246A-5E5845303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86615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128B4-C28B-C566-0646-B88B1C58F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2BFC85-261E-6A69-FC38-D43914EB3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96B8D3-26A1-0CF4-B600-6588A6541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850CE-6899-982D-572D-1043B8053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1B706-CB00-7DB7-6788-887456685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0453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B90BC-6FE4-8ABA-A041-2C0714D16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DAA1B-8CFD-74B6-F53C-AC7A416B6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89C2FA-A8E3-1A4D-0689-FAEB81B5BE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EEB3D9-BB52-9AC4-4D89-7D6389DB3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4DF8A9-2D4C-15BF-E464-FEC82598C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C6C26-CDE8-69A3-21BB-3A9391874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311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3F782-7D7A-5E98-2BBA-116CBD32D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456E36-8094-1CCB-5DF4-2FA3E64BCA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0BCABF-1DDA-D308-1539-B1000AEB2F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662AFE-40A6-B7A9-4B56-E36000EDD8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E57AAB-CA0E-DE18-151E-DFABE78E19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4D7029-DEB2-73E7-C984-210AB9C4C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F03F54-293C-8559-802E-175764657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DD1DE9-3331-82C6-874B-21BAFF826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3426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C3DB9-0F2D-7A99-F0F9-18AF7FE34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03435D-98A0-587C-1960-687207D4C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974558-11B4-2350-D2D4-EF10919EF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833525-03AF-B1CE-A64D-6C708CF55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2082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A1591A-84C3-7089-D9D3-1F367BE4A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B3955F-CB79-52D6-058A-B271B2BEC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E0C81-BA54-BFF9-CFA4-F81B2DE1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5182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50D37-3A6B-5CCA-CB91-871FDDD87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737B0-F57C-BD1D-AD2B-826E67781E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F067B3-8BB8-B965-AF2E-6F81560862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7F540-F2A1-E095-7F68-1D9674906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E44D2C-B838-3A3B-3267-014F1B6C2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13E48B-6B22-491C-2569-C127C3810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43058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153D9-5907-A104-28C2-C682F8F6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3A4866-2CAD-2E33-EAD4-159F2C01EC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6BE1F8-CDF0-5F06-4453-9CECE3DA29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2F0CA5-167A-1944-63D3-9B1F855E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A21F0-2C41-2E33-2E97-26559280D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4F6-7C71-3EDB-5070-608760223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2778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4CEDD-0699-C873-B6C0-924116D80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931FE1-8984-68B4-F2E7-6A9010654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7AA84-4D7A-62E9-6B5F-1B9E226CF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142BA9-B188-5F6E-DE59-B08EE8BA0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8C7CDC-69E7-4F25-74BF-5E3F61A0D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5844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228698-7DCE-84FA-B51A-CCAF9908EE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72C05A-DD3E-C080-6001-7A26272B40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BF720D-61B9-8FB5-19C6-54DA072DE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7BF41-787C-FCC4-2DAD-1D7E1D900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6C9B8A-C855-8AC0-8B94-A28FA69D6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4595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18D02-3772-7E25-E1B7-08D4B4F63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5F328E-B71F-2889-5227-C8C6ED6929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F942A0-1C7A-C11D-E868-8E9E309930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6FDC1C-56EA-4B23-9E1D-42A946695629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0B1E5-55EF-338A-0887-276E4E4FD6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70F1E-6612-1C22-E4FB-A80650036B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0668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A18762-F9BC-49D8-16BA-6566B2457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B04DD6D-37AC-46C4-3230-FBB729558CF2}"/>
              </a:ext>
            </a:extLst>
          </p:cNvPr>
          <p:cNvSpPr/>
          <p:nvPr/>
        </p:nvSpPr>
        <p:spPr>
          <a:xfrm>
            <a:off x="6807540" y="218752"/>
            <a:ext cx="5100860" cy="3962400"/>
          </a:xfrm>
          <a:prstGeom prst="roundRect">
            <a:avLst>
              <a:gd name="adj" fmla="val 2534"/>
            </a:avLst>
          </a:prstGeom>
          <a:solidFill>
            <a:srgbClr val="18043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0C5CEE-60DA-0FE3-8B05-AD782889CB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30" t="12083" r="56601" b="12083"/>
          <a:stretch>
            <a:fillRect/>
          </a:stretch>
        </p:blipFill>
        <p:spPr>
          <a:xfrm>
            <a:off x="304800" y="218751"/>
            <a:ext cx="4800600" cy="6400800"/>
          </a:xfrm>
          <a:prstGeom prst="roundRect">
            <a:avLst>
              <a:gd name="adj" fmla="val 3334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6F50C53-4FBA-D415-9605-22D46A41DA60}"/>
              </a:ext>
            </a:extLst>
          </p:cNvPr>
          <p:cNvSpPr/>
          <p:nvPr/>
        </p:nvSpPr>
        <p:spPr>
          <a:xfrm>
            <a:off x="6702214" y="4536426"/>
            <a:ext cx="5118355" cy="2321574"/>
          </a:xfrm>
          <a:prstGeom prst="roundRect">
            <a:avLst>
              <a:gd name="adj" fmla="val 5035"/>
            </a:avLst>
          </a:prstGeom>
          <a:solidFill>
            <a:srgbClr val="18043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F44CF18-9ED9-A411-1505-34F8BFA0A8D3}"/>
              </a:ext>
            </a:extLst>
          </p:cNvPr>
          <p:cNvSpPr/>
          <p:nvPr/>
        </p:nvSpPr>
        <p:spPr>
          <a:xfrm>
            <a:off x="5524152" y="-285892"/>
            <a:ext cx="830998" cy="5257800"/>
          </a:xfrm>
          <a:prstGeom prst="roundRect">
            <a:avLst/>
          </a:prstGeom>
          <a:solidFill>
            <a:srgbClr val="15032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4B81EC-DEEC-F366-2A6A-A7CE74A63008}"/>
              </a:ext>
            </a:extLst>
          </p:cNvPr>
          <p:cNvSpPr txBox="1"/>
          <p:nvPr/>
        </p:nvSpPr>
        <p:spPr>
          <a:xfrm rot="16200000">
            <a:off x="2990054" y="1590087"/>
            <a:ext cx="5848388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4000" b="1" i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NGT Training Department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5081760-12B3-8846-33FB-98BF999E2AE1}"/>
              </a:ext>
            </a:extLst>
          </p:cNvPr>
          <p:cNvSpPr txBox="1"/>
          <p:nvPr/>
        </p:nvSpPr>
        <p:spPr>
          <a:xfrm>
            <a:off x="7411453" y="5716752"/>
            <a:ext cx="4409116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Instructor</a:t>
            </a:r>
            <a:r>
              <a:rPr lang="fa-IR" sz="28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: </a:t>
            </a:r>
            <a:r>
              <a:rPr lang="en-US" sz="28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M.M.Naseri</a:t>
            </a:r>
            <a:endParaRPr lang="en-US" sz="28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4CFFF3-4F09-CEDA-63D6-63A359CEE185}"/>
              </a:ext>
            </a:extLst>
          </p:cNvPr>
          <p:cNvSpPr txBox="1"/>
          <p:nvPr/>
        </p:nvSpPr>
        <p:spPr>
          <a:xfrm>
            <a:off x="6798599" y="4671953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58A2564-5FA6-49E3-5A31-8D1B1661F46B}"/>
              </a:ext>
            </a:extLst>
          </p:cNvPr>
          <p:cNvSpPr txBox="1"/>
          <p:nvPr/>
        </p:nvSpPr>
        <p:spPr>
          <a:xfrm>
            <a:off x="7411910" y="5329984"/>
            <a:ext cx="4409116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Duration : </a:t>
            </a:r>
            <a:r>
              <a:rPr lang="en-US" sz="28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120 </a:t>
            </a:r>
            <a:r>
              <a:rPr lang="en-US" sz="28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min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6231" y="279795"/>
            <a:ext cx="3863092" cy="3863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3892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B148A4-1F4B-9639-0090-4F48BA94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3096AE-A3DB-D704-88C4-E5A5B7E5F2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A65953FA-DB1E-4FBD-7908-15291FFB0F4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C08FB27D-72D6-1C55-0D98-22DDB8BABBFF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3B70F7D-57CC-6C24-0CFA-961C7502BE86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4D53800-CC88-3402-18E3-DC533889A3A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9C7591CC-9F73-3CDF-8111-AB11184C81E7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5300" y="3784600"/>
            <a:ext cx="4343400" cy="4343400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C159EB71-29D0-1138-B84C-04FC420E1DB1}"/>
              </a:ext>
            </a:extLst>
          </p:cNvPr>
          <p:cNvSpPr txBox="1"/>
          <p:nvPr/>
        </p:nvSpPr>
        <p:spPr>
          <a:xfrm>
            <a:off x="1317459" y="2275275"/>
            <a:ext cx="5638800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This advanced </a:t>
            </a:r>
            <a:r>
              <a:rPr lang="en-US" sz="3000" b="1" dirty="0" err="1">
                <a:solidFill>
                  <a:srgbClr val="15032C"/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 course focuses on two core areas of modern </a:t>
            </a:r>
            <a:r>
              <a:rPr lang="en-US" sz="3000" b="1" dirty="0" err="1">
                <a:solidFill>
                  <a:srgbClr val="15032C"/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 systems:</a:t>
            </a:r>
            <a:endParaRPr lang="en-US" sz="30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B175013-DA2E-43A3-9B6C-62A3419B965D}"/>
              </a:ext>
            </a:extLst>
          </p:cNvPr>
          <p:cNvSpPr txBox="1"/>
          <p:nvPr/>
        </p:nvSpPr>
        <p:spPr>
          <a:xfrm>
            <a:off x="1317459" y="3485605"/>
            <a:ext cx="7888704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Network &amp; Data </a:t>
            </a:r>
            <a:r>
              <a:rPr lang="en-US" sz="3000" b="1" dirty="0" err="1" smtClean="0">
                <a:solidFill>
                  <a:srgbClr val="15032C"/>
                </a:solidFill>
                <a:latin typeface="Agency FB" panose="00010606040000040003" pitchFamily="2" charset="0"/>
              </a:rPr>
              <a:t>CommunicationAdvanced</a:t>
            </a:r>
            <a:endParaRPr lang="en-US" sz="3000" b="1" dirty="0">
              <a:solidFill>
                <a:srgbClr val="15032C"/>
              </a:solidFill>
              <a:latin typeface="Agency FB" panose="00010606040000040003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b="1" dirty="0" smtClean="0">
                <a:solidFill>
                  <a:srgbClr val="15032C"/>
                </a:solidFill>
                <a:latin typeface="Agency FB" panose="00010606040000040003" pitchFamily="2" charset="0"/>
              </a:rPr>
              <a:t>Firmware</a:t>
            </a:r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, Middleware &amp; Edge Computing</a:t>
            </a:r>
            <a:endParaRPr lang="en-US" sz="30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3F0BFC5-A185-8446-22ED-235F6C41FFBB}"/>
              </a:ext>
            </a:extLst>
          </p:cNvPr>
          <p:cNvSpPr txBox="1"/>
          <p:nvPr/>
        </p:nvSpPr>
        <p:spPr>
          <a:xfrm>
            <a:off x="1317459" y="4695935"/>
            <a:ext cx="6797841" cy="193899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The course moves beyond basic electronics and microcontroller fundamentals, focusing on reliability, scalability, security, and real-world </a:t>
            </a:r>
            <a:r>
              <a:rPr lang="en-US" sz="3000" b="1" dirty="0" err="1">
                <a:solidFill>
                  <a:srgbClr val="15032C"/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 deployment.</a:t>
            </a:r>
            <a:endParaRPr lang="en-US" sz="30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60259" y="1334281"/>
            <a:ext cx="6096000" cy="76944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4400" b="1" dirty="0">
                <a:solidFill>
                  <a:srgbClr val="15032C"/>
                </a:solidFill>
                <a:latin typeface="Agency FB" panose="00010606040000040003" pitchFamily="2" charset="0"/>
              </a:rPr>
              <a:t>Course Overview</a:t>
            </a:r>
            <a:endParaRPr lang="en-US" sz="44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988466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06781F-7114-535F-7588-4DFD0EB02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55E13BB-485F-11F8-8456-6CCDBE75DE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62403AD-C896-B34F-30CE-C41C700CCD80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A6632873-0D87-CCCA-207F-A374A97A6714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0662C45-4B60-0DFA-23D6-8E4311F48381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194A607-CB79-4EC7-B239-42B4BB4666CC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A18B0B-6461-196A-AA62-E3D615125056}"/>
              </a:ext>
            </a:extLst>
          </p:cNvPr>
          <p:cNvSpPr txBox="1"/>
          <p:nvPr/>
        </p:nvSpPr>
        <p:spPr>
          <a:xfrm>
            <a:off x="847562" y="1326696"/>
            <a:ext cx="645493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Course Modules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01F0B68-A5F8-88CD-C035-0E59521852C6}"/>
              </a:ext>
            </a:extLst>
          </p:cNvPr>
          <p:cNvSpPr txBox="1"/>
          <p:nvPr/>
        </p:nvSpPr>
        <p:spPr>
          <a:xfrm>
            <a:off x="1611320" y="2183223"/>
            <a:ext cx="6556537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1. Network Layer</a:t>
            </a:r>
            <a:endParaRPr lang="en-US" sz="24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DC26CC2-1D2E-8BF8-1EED-CBE8CE62790D}"/>
              </a:ext>
            </a:extLst>
          </p:cNvPr>
          <p:cNvSpPr txBox="1"/>
          <p:nvPr/>
        </p:nvSpPr>
        <p:spPr>
          <a:xfrm>
            <a:off x="1611319" y="2692431"/>
            <a:ext cx="6556537" cy="830997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Communication </a:t>
            </a:r>
            <a:r>
              <a:rPr lang="en-US" sz="2400" b="1" dirty="0" err="1">
                <a:solidFill>
                  <a:srgbClr val="15032C"/>
                </a:solidFill>
                <a:latin typeface="Dosis" pitchFamily="2" charset="0"/>
              </a:rPr>
              <a:t>ProtocolsLPWAN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&amp; Cellular </a:t>
            </a:r>
            <a:r>
              <a:rPr lang="en-US" sz="2400" b="1" dirty="0" err="1">
                <a:solidFill>
                  <a:srgbClr val="15032C"/>
                </a:solidFill>
                <a:latin typeface="Dosis" pitchFamily="2" charset="0"/>
              </a:rPr>
              <a:t>NetworksIoT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Network Security</a:t>
            </a:r>
            <a:endParaRPr lang="en-US" sz="24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280A84-34DC-1218-891B-74CDC648CC6E}"/>
              </a:ext>
            </a:extLst>
          </p:cNvPr>
          <p:cNvSpPr txBox="1"/>
          <p:nvPr/>
        </p:nvSpPr>
        <p:spPr>
          <a:xfrm>
            <a:off x="1611319" y="4242832"/>
            <a:ext cx="7868557" cy="193899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Professional </a:t>
            </a: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Firmware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 err="1" smtClean="0">
                <a:solidFill>
                  <a:srgbClr val="15032C"/>
                </a:solidFill>
                <a:latin typeface="Dosis" pitchFamily="2" charset="0"/>
              </a:rPr>
              <a:t>ArchitectureRaspberry</a:t>
            </a: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 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Pi &amp; </a:t>
            </a: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Remote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 err="1" smtClean="0">
                <a:solidFill>
                  <a:srgbClr val="15032C"/>
                </a:solidFill>
                <a:latin typeface="Dosis" pitchFamily="2" charset="0"/>
              </a:rPr>
              <a:t>AccessData</a:t>
            </a: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 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&amp; Telemetry </a:t>
            </a: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Management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OTA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</a:t>
            </a: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Updates 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&amp; </a:t>
            </a: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Maintenance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 smtClean="0">
                <a:solidFill>
                  <a:srgbClr val="15032C"/>
                </a:solidFill>
                <a:latin typeface="Dosis" pitchFamily="2" charset="0"/>
              </a:rPr>
              <a:t>Hands-on </a:t>
            </a:r>
            <a:r>
              <a:rPr lang="en-US" sz="2400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Workshop</a:t>
            </a:r>
            <a:endParaRPr lang="en-US" sz="24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E366C50-5B90-5C81-BCC8-AA5DEACD196D}"/>
              </a:ext>
            </a:extLst>
          </p:cNvPr>
          <p:cNvSpPr txBox="1"/>
          <p:nvPr/>
        </p:nvSpPr>
        <p:spPr>
          <a:xfrm>
            <a:off x="1611319" y="3716501"/>
            <a:ext cx="6556537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2. Firmware &amp; Edge Computing</a:t>
            </a:r>
            <a:endParaRPr lang="en-US" sz="2400" b="1" dirty="0">
              <a:solidFill>
                <a:srgbClr val="15032C"/>
              </a:solidFill>
              <a:latin typeface="Dosis" pitchFamily="2" charset="0"/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3FA84BD0-77E9-C2B7-EEC7-132EAAB3A5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100" y="3848100"/>
            <a:ext cx="3009900" cy="300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2061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645493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 smtClean="0">
                <a:solidFill>
                  <a:srgbClr val="15032C"/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600" b="1" dirty="0" err="1" smtClean="0">
                <a:solidFill>
                  <a:srgbClr val="15032C"/>
                </a:solidFill>
                <a:latin typeface="Agency FB" panose="00010606040000040003" pitchFamily="2" charset="0"/>
              </a:rPr>
              <a:t>IoT</a:t>
            </a:r>
            <a:r>
              <a:rPr lang="en-US" sz="3600" b="1" dirty="0" smtClean="0">
                <a:solidFill>
                  <a:srgbClr val="15032C"/>
                </a:solidFill>
                <a:latin typeface="Agency FB" panose="00010606040000040003" pitchFamily="2" charset="0"/>
              </a:rPr>
              <a:t>)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What is the Internet of Things (IoT)?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2337129" y="3228945"/>
            <a:ext cx="10318522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Core Definition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Bridging physical assets to digital networks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840DB13-47CD-9ED0-1574-E22BA3FB5B10}"/>
              </a:ext>
            </a:extLst>
          </p:cNvPr>
          <p:cNvSpPr txBox="1"/>
          <p:nvPr/>
        </p:nvSpPr>
        <p:spPr>
          <a:xfrm>
            <a:off x="2337129" y="3752165"/>
            <a:ext cx="9967947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Key Loop: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Sense →Process → Transmit → Actuate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7EF3E34-5C58-11DE-AFA9-6CB6D1B40749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7570" y="4573570"/>
            <a:ext cx="2284429" cy="22844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2337128" y="4275385"/>
            <a:ext cx="7881527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Value: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Telemetry, predictive maintenance, and autonomous control</a:t>
            </a:r>
          </a:p>
        </p:txBody>
      </p:sp>
    </p:spTree>
    <p:extLst>
      <p:ext uri="{BB962C8B-B14F-4D97-AF65-F5344CB8AC3E}">
        <p14:creationId xmlns:p14="http://schemas.microsoft.com/office/powerpoint/2010/main" val="9043221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8B89F-7E88-18C7-C72B-30661B917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B4CA68D-FE6C-EDA1-274B-C586044430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4A91F6C-56CD-A562-0C7C-4C4138D41CE6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52E10A04-D481-3BDB-2FC3-4DE021B15255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C108EE3-270D-B159-6FBD-0B55C2E53782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89B4AD0-7822-648A-38D5-9BF03413FC75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4664DD-2504-B048-27B7-720340B6054D}"/>
              </a:ext>
            </a:extLst>
          </p:cNvPr>
          <p:cNvSpPr txBox="1"/>
          <p:nvPr/>
        </p:nvSpPr>
        <p:spPr>
          <a:xfrm>
            <a:off x="847562" y="1326696"/>
            <a:ext cx="645493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 smtClean="0">
                <a:solidFill>
                  <a:srgbClr val="15032C"/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600" b="1" dirty="0" err="1" smtClean="0">
                <a:solidFill>
                  <a:srgbClr val="15032C"/>
                </a:solidFill>
                <a:latin typeface="Agency FB" panose="00010606040000040003" pitchFamily="2" charset="0"/>
              </a:rPr>
              <a:t>IoT</a:t>
            </a:r>
            <a:r>
              <a:rPr lang="en-US" sz="3600" b="1" dirty="0" smtClean="0">
                <a:solidFill>
                  <a:srgbClr val="15032C"/>
                </a:solidFill>
                <a:latin typeface="Agency FB" panose="00010606040000040003" pitchFamily="2" charset="0"/>
              </a:rPr>
              <a:t>)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B5CE2BD-D39A-DF26-CCDA-48181183F15E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Standard 3-Layer IoT Architecture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D382C979-AFA5-B5FF-A8BC-7053A3C8CF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94" b="8260"/>
          <a:stretch>
            <a:fillRect/>
          </a:stretch>
        </p:blipFill>
        <p:spPr>
          <a:xfrm>
            <a:off x="8641574" y="5042117"/>
            <a:ext cx="3550426" cy="18158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FA26A6-3ACC-EFCE-A110-1D604274287A}"/>
              </a:ext>
            </a:extLst>
          </p:cNvPr>
          <p:cNvSpPr txBox="1"/>
          <p:nvPr/>
        </p:nvSpPr>
        <p:spPr>
          <a:xfrm>
            <a:off x="2092187" y="2890165"/>
            <a:ext cx="8861107" cy="181588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Perception Layer (Edge):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Sensors, Actuators &amp; Microcontrollers (ESP32).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endParaRPr lang="en-US" sz="2000" b="1" dirty="0">
              <a:solidFill>
                <a:schemeClr val="bg2">
                  <a:lumMod val="50000"/>
                </a:schemeClr>
              </a:solidFill>
              <a:latin typeface="Dosis" pitchFamily="2" charset="0"/>
            </a:endParaRP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Network Layer (Transport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): Wi-Fi, Cellular, </a:t>
            </a:r>
            <a:r>
              <a:rPr lang="en-US" sz="2000" b="1" dirty="0" err="1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LoRaWAN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&amp; Protocols (MQTT).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endParaRPr lang="en-US" sz="2000" b="1" dirty="0">
              <a:solidFill>
                <a:schemeClr val="bg2">
                  <a:lumMod val="50000"/>
                </a:schemeClr>
              </a:solidFill>
              <a:latin typeface="Dosis" pitchFamily="2" charset="0"/>
            </a:endParaRP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Application Layer (Cloud/Platform):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Storage, Dashboards &amp; Analytics.</a:t>
            </a:r>
          </a:p>
        </p:txBody>
      </p:sp>
    </p:spTree>
    <p:extLst>
      <p:ext uri="{BB962C8B-B14F-4D97-AF65-F5344CB8AC3E}">
        <p14:creationId xmlns:p14="http://schemas.microsoft.com/office/powerpoint/2010/main" val="38529441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E47027-C688-F45D-69B6-714C57ABD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1A17CA-1921-17BD-0EAB-3B0AADE0EB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A04B001-70D9-C204-715E-F541ED9C70C7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D40CFF4A-17AA-A432-7D53-7F8FF1F6AE91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0CF0BEC-1C33-A930-ACAA-B709DB1F697B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1215E95-5215-3AE3-5FA8-FC8BA402EDD1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6355F30-1F89-01F0-7334-D25A19791CC7}"/>
              </a:ext>
            </a:extLst>
          </p:cNvPr>
          <p:cNvSpPr txBox="1"/>
          <p:nvPr/>
        </p:nvSpPr>
        <p:spPr>
          <a:xfrm>
            <a:off x="847562" y="1326696"/>
            <a:ext cx="645493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 smtClean="0">
                <a:solidFill>
                  <a:srgbClr val="15032C"/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600" b="1" dirty="0" err="1" smtClean="0">
                <a:solidFill>
                  <a:srgbClr val="15032C"/>
                </a:solidFill>
                <a:latin typeface="Agency FB" panose="00010606040000040003" pitchFamily="2" charset="0"/>
              </a:rPr>
              <a:t>IoT</a:t>
            </a:r>
            <a:r>
              <a:rPr lang="en-US" sz="3600" b="1" dirty="0" smtClean="0">
                <a:solidFill>
                  <a:srgbClr val="15032C"/>
                </a:solidFill>
                <a:latin typeface="Agency FB" panose="00010606040000040003" pitchFamily="2" charset="0"/>
              </a:rPr>
              <a:t>)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65631A0-EABE-1F51-6F6D-1121A773A8B9}"/>
              </a:ext>
            </a:extLst>
          </p:cNvPr>
          <p:cNvSpPr txBox="1"/>
          <p:nvPr/>
        </p:nvSpPr>
        <p:spPr>
          <a:xfrm>
            <a:off x="1685763" y="2169986"/>
            <a:ext cx="7923909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Traditional Web (HTTP) vs. IoT Protocols (MQTT)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A350943-C601-AEAC-16E7-CF69F9B14F40}"/>
              </a:ext>
            </a:extLst>
          </p:cNvPr>
          <p:cNvSpPr txBox="1"/>
          <p:nvPr/>
        </p:nvSpPr>
        <p:spPr>
          <a:xfrm>
            <a:off x="2337129" y="2991114"/>
            <a:ext cx="10318522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HTTP (Request/Response):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Heavy overhead, high latency, client-driven.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048400E-BFD2-9D86-086F-4315C096A0FE}"/>
              </a:ext>
            </a:extLst>
          </p:cNvPr>
          <p:cNvSpPr txBox="1"/>
          <p:nvPr/>
        </p:nvSpPr>
        <p:spPr>
          <a:xfrm>
            <a:off x="2337129" y="3575193"/>
            <a:ext cx="7590641" cy="76944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MQTT (Publish/Subscribe):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Ultra-lightweight (2-byte header), low power, real-time.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6C2B154-3D9E-9C7E-8325-4BD96D3A3043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28126" y="3994126"/>
            <a:ext cx="2863874" cy="286387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E0C1550-50E6-3F1E-98FB-E93CCB7B1B2F}"/>
              </a:ext>
            </a:extLst>
          </p:cNvPr>
          <p:cNvSpPr txBox="1"/>
          <p:nvPr/>
        </p:nvSpPr>
        <p:spPr>
          <a:xfrm>
            <a:off x="2337130" y="4467049"/>
            <a:ext cx="6632700" cy="76944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Constraint-Friendly: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Ideal for battery-powered nodes and unstable networks.</a:t>
            </a:r>
          </a:p>
        </p:txBody>
      </p:sp>
    </p:spTree>
    <p:extLst>
      <p:ext uri="{BB962C8B-B14F-4D97-AF65-F5344CB8AC3E}">
        <p14:creationId xmlns:p14="http://schemas.microsoft.com/office/powerpoint/2010/main" val="32107814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912DE5-3328-6358-E906-97A2273CE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0FF92D3-0713-6851-298A-7D903032D2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C4B2906-28AA-B9A1-FB75-76720DB00687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8F505E7-F9C6-2E31-874E-B9227CD6D026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CFD780-2B4C-6151-8BFE-B0DF6EE5822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64FE28D-121A-6DAC-028D-FC36FAA07826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6A56C8-1708-4655-9B69-8D1F10C1309A}"/>
              </a:ext>
            </a:extLst>
          </p:cNvPr>
          <p:cNvSpPr txBox="1"/>
          <p:nvPr/>
        </p:nvSpPr>
        <p:spPr>
          <a:xfrm>
            <a:off x="847562" y="1326696"/>
            <a:ext cx="645493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 smtClean="0">
                <a:solidFill>
                  <a:srgbClr val="15032C"/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600" b="1" dirty="0" err="1" smtClean="0">
                <a:solidFill>
                  <a:srgbClr val="15032C"/>
                </a:solidFill>
                <a:latin typeface="Agency FB" panose="00010606040000040003" pitchFamily="2" charset="0"/>
              </a:rPr>
              <a:t>IoT</a:t>
            </a:r>
            <a:r>
              <a:rPr lang="en-US" sz="3600" b="1" dirty="0" smtClean="0">
                <a:solidFill>
                  <a:srgbClr val="15032C"/>
                </a:solidFill>
                <a:latin typeface="Agency FB" panose="00010606040000040003" pitchFamily="2" charset="0"/>
              </a:rPr>
              <a:t>)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520A16-6A70-BF78-4653-E0DCE6E4DAC3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The Complete Data Lifecycle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771EEA8-C14E-B22E-3198-2963BC8783D2}"/>
              </a:ext>
            </a:extLst>
          </p:cNvPr>
          <p:cNvSpPr txBox="1"/>
          <p:nvPr/>
        </p:nvSpPr>
        <p:spPr>
          <a:xfrm>
            <a:off x="2337129" y="3228945"/>
            <a:ext cx="10318522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Physical World: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Temperature, Vibration, Voltage change.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04085A6-C7D5-0A36-48D8-71604EF569BB}"/>
              </a:ext>
            </a:extLst>
          </p:cNvPr>
          <p:cNvSpPr txBox="1"/>
          <p:nvPr/>
        </p:nvSpPr>
        <p:spPr>
          <a:xfrm>
            <a:off x="2337129" y="3752165"/>
            <a:ext cx="9967947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Signal Conditioning: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Analog/Digital conversion on MCU.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AA240934-EF77-1290-D600-D04F2E39F5F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07570" y="4573570"/>
            <a:ext cx="2284429" cy="22844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34B742F-88FA-2F37-3D14-64E257B65326}"/>
              </a:ext>
            </a:extLst>
          </p:cNvPr>
          <p:cNvSpPr txBox="1"/>
          <p:nvPr/>
        </p:nvSpPr>
        <p:spPr>
          <a:xfrm>
            <a:off x="2337128" y="4275385"/>
            <a:ext cx="7881527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Packet Framing: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JSON / Binary serialization.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8B9EB-DB2D-90A0-DE32-65230613E554}"/>
              </a:ext>
            </a:extLst>
          </p:cNvPr>
          <p:cNvSpPr txBox="1"/>
          <p:nvPr/>
        </p:nvSpPr>
        <p:spPr>
          <a:xfrm>
            <a:off x="2337128" y="4798605"/>
            <a:ext cx="7881527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Cloud Routing: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Ingestion broker → Storage → Real-time Action.</a:t>
            </a:r>
          </a:p>
        </p:txBody>
      </p:sp>
    </p:spTree>
    <p:extLst>
      <p:ext uri="{BB962C8B-B14F-4D97-AF65-F5344CB8AC3E}">
        <p14:creationId xmlns:p14="http://schemas.microsoft.com/office/powerpoint/2010/main" val="15591560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chemeClr val="accent4">
                <a:lumMod val="20000"/>
                <a:lumOff val="80000"/>
              </a:schemeClr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A7D735-34E3-BB9D-766C-DC733D40E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5C107B-A4EF-3C6D-2B1E-72EC523751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BFCA442-53D5-2487-966D-6C13130906BB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431B3548-75AD-B926-EEF2-EB45A69455A1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CDB9159-B4F3-B06E-706B-391C3021FC0D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61CF0EA-4493-9147-8E0C-6EB966ADFEC1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7EDFC2-913D-632D-25D4-B59E7514FC9D}"/>
              </a:ext>
            </a:extLst>
          </p:cNvPr>
          <p:cNvSpPr txBox="1"/>
          <p:nvPr/>
        </p:nvSpPr>
        <p:spPr>
          <a:xfrm>
            <a:off x="847562" y="1326696"/>
            <a:ext cx="645493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Hardware Landscape and ESP32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83A77-B3CA-DD2E-F37A-A3C7577E3DF1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Edge Processing: MCU vs. MPU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41B68D-0E69-6361-670E-B2E8AEFE3350}"/>
              </a:ext>
            </a:extLst>
          </p:cNvPr>
          <p:cNvSpPr txBox="1"/>
          <p:nvPr/>
        </p:nvSpPr>
        <p:spPr>
          <a:xfrm>
            <a:off x="1685763" y="2847891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ESP32 SoC: Architecture &amp; Specs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B103E7A-0525-D51B-C2A9-261BA2BC61F8}"/>
              </a:ext>
            </a:extLst>
          </p:cNvPr>
          <p:cNvSpPr txBox="1"/>
          <p:nvPr/>
        </p:nvSpPr>
        <p:spPr>
          <a:xfrm>
            <a:off x="1685763" y="3525796"/>
            <a:ext cx="786855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ESP32 Pinout Classification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AD3328F-C485-6271-5404-509ADCD81364}"/>
              </a:ext>
            </a:extLst>
          </p:cNvPr>
          <p:cNvSpPr txBox="1"/>
          <p:nvPr/>
        </p:nvSpPr>
        <p:spPr>
          <a:xfrm>
            <a:off x="1685763" y="4203701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Critical Hardware Pitfalls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DE524121-1B0E-D661-2F0C-A5CB9BC844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100" y="3848100"/>
            <a:ext cx="3009900" cy="300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6496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3A396E-CB64-C8E6-B2EB-F2F2EB87B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E7FB672-75E2-8EC2-A24D-BBF8D8C2C6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AEF888C3-9A16-7327-6C5D-897F3E6021C7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E64D8533-8DEB-02B1-0379-64DBA919520B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3289D-3986-CA3B-6515-C54EA56A5205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CAE740F-5945-206E-11A9-D0192A222FEC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A3A2C84-F64F-1740-278C-01DA02F1D49B}"/>
              </a:ext>
            </a:extLst>
          </p:cNvPr>
          <p:cNvSpPr txBox="1"/>
          <p:nvPr/>
        </p:nvSpPr>
        <p:spPr>
          <a:xfrm>
            <a:off x="847562" y="1326696"/>
            <a:ext cx="645493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Hardware Landscape and ESP32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306757-5629-4691-A1E8-90B81AF1ACB8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Edge Processing: MCU vs. MPU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B4925A1-7A99-4A86-90A3-B15E71A72A01}"/>
              </a:ext>
            </a:extLst>
          </p:cNvPr>
          <p:cNvSpPr txBox="1"/>
          <p:nvPr/>
        </p:nvSpPr>
        <p:spPr>
          <a:xfrm>
            <a:off x="2337129" y="3228945"/>
            <a:ext cx="10318522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MCU (ESP32 / STM32):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Real-time, ultra-low power, bare-metal / RTOS, low cost.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F9066AF-8F9A-20EB-935C-12771F53371E}"/>
              </a:ext>
            </a:extLst>
          </p:cNvPr>
          <p:cNvSpPr txBox="1"/>
          <p:nvPr/>
        </p:nvSpPr>
        <p:spPr>
          <a:xfrm>
            <a:off x="2337129" y="3752165"/>
            <a:ext cx="9967947" cy="76944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MPU / SBC (e.g., Raspberry Pi):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Full Linux OS, high compute (AI/Vision), high power consumption.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7053532D-A6D7-7085-36A3-7A85F27C5278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07570" y="4573570"/>
            <a:ext cx="2284429" cy="228442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61F6A21-C358-19CB-94FC-7DFE4362DC8E}"/>
              </a:ext>
            </a:extLst>
          </p:cNvPr>
          <p:cNvSpPr txBox="1"/>
          <p:nvPr/>
        </p:nvSpPr>
        <p:spPr>
          <a:xfrm>
            <a:off x="2337129" y="4583161"/>
            <a:ext cx="7881527" cy="76944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IoT Design Rule: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Use MCUs for deterministic sensing; use MPUs for heavy Edge AI/Gateways.</a:t>
            </a:r>
          </a:p>
        </p:txBody>
      </p:sp>
    </p:spTree>
    <p:extLst>
      <p:ext uri="{BB962C8B-B14F-4D97-AF65-F5344CB8AC3E}">
        <p14:creationId xmlns:p14="http://schemas.microsoft.com/office/powerpoint/2010/main" val="5166993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962E20-A2F5-4E96-3D7D-6A27EECE5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A8BE4D9-0190-7C70-CB2B-9BAA931B79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E832C802-45D2-89D9-EC57-01AA8CECBC5A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DCFA6EDA-34E9-4153-830E-26237BCB32FB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D0812C4-4578-078C-E0DE-A9A3A720DD8C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401C23EB-A058-9A73-F463-A1691E7DB6E2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4FCF7D7-12C5-9E84-BEC2-28A74BA68479}"/>
              </a:ext>
            </a:extLst>
          </p:cNvPr>
          <p:cNvSpPr txBox="1"/>
          <p:nvPr/>
        </p:nvSpPr>
        <p:spPr>
          <a:xfrm>
            <a:off x="2337129" y="3228945"/>
            <a:ext cx="10318522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Compute: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Dual-Core Xtensa 32-bit LX6 @ up to 240 </a:t>
            </a:r>
            <a:r>
              <a:rPr lang="en-US" sz="2000" b="1" dirty="0" err="1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MHz.</a:t>
            </a:r>
            <a:endParaRPr lang="en-US" sz="2000" b="1" dirty="0">
              <a:solidFill>
                <a:schemeClr val="bg2">
                  <a:lumMod val="50000"/>
                </a:schemeClr>
              </a:solidFill>
              <a:latin typeface="Dosis" pitchFamily="2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314D9BE-18A9-7307-5E95-7D89A4D0C342}"/>
              </a:ext>
            </a:extLst>
          </p:cNvPr>
          <p:cNvSpPr txBox="1"/>
          <p:nvPr/>
        </p:nvSpPr>
        <p:spPr>
          <a:xfrm>
            <a:off x="2337129" y="3752165"/>
            <a:ext cx="9967947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Memory: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520 KB internal SRAM + External SPI Flash (4MB/8MB/16MB).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5C78CA7E-C57A-B6C2-A223-94F3FCAD68E7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7570" y="4573570"/>
            <a:ext cx="2284429" cy="22844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0E63F97-BCA3-30EB-41CF-1D027ED2E8D0}"/>
              </a:ext>
            </a:extLst>
          </p:cNvPr>
          <p:cNvSpPr txBox="1"/>
          <p:nvPr/>
        </p:nvSpPr>
        <p:spPr>
          <a:xfrm>
            <a:off x="2337128" y="4275385"/>
            <a:ext cx="8280072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Wireless: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Integrated Wi-Fi 802.11 b/g/n (2.4 GHz) + Bluetooth v4.2 / BLE.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02DF12-68E7-D588-6F01-B0D04B58D074}"/>
              </a:ext>
            </a:extLst>
          </p:cNvPr>
          <p:cNvSpPr txBox="1"/>
          <p:nvPr/>
        </p:nvSpPr>
        <p:spPr>
          <a:xfrm>
            <a:off x="847562" y="1326696"/>
            <a:ext cx="645493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Hardware Landscape and ESP32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4468D0-4361-B2E9-E6E5-1427EEED7286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ESP32 SoC: Architecture &amp; Specs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FA4E12-2827-30AD-B18B-D12E14FD8BEE}"/>
              </a:ext>
            </a:extLst>
          </p:cNvPr>
          <p:cNvSpPr txBox="1"/>
          <p:nvPr/>
        </p:nvSpPr>
        <p:spPr>
          <a:xfrm>
            <a:off x="2337128" y="4820186"/>
            <a:ext cx="7881527" cy="76944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Power Management: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Active, Light-sleep, Deep-sleep (10𝜇𝐴), ULP coprocessor.</a:t>
            </a:r>
          </a:p>
        </p:txBody>
      </p:sp>
    </p:spTree>
    <p:extLst>
      <p:ext uri="{BB962C8B-B14F-4D97-AF65-F5344CB8AC3E}">
        <p14:creationId xmlns:p14="http://schemas.microsoft.com/office/powerpoint/2010/main" val="12800523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B2D607-5CBB-4407-3E63-FC068B543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CD89ACB-B8A1-70A4-A815-6850B39696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DA50729F-B073-B0BA-9A07-20F5E1BA4907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A4816DC6-79CD-BB37-2CFB-5BA12711257A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303C3AE-A327-1A22-E292-660FDEE631AD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22E7F63-9DA4-41AE-E712-4121852F1F13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95D638-6BD2-4C4D-A4C0-F48411CC39D9}"/>
              </a:ext>
            </a:extLst>
          </p:cNvPr>
          <p:cNvSpPr txBox="1"/>
          <p:nvPr/>
        </p:nvSpPr>
        <p:spPr>
          <a:xfrm>
            <a:off x="2337129" y="3228945"/>
            <a:ext cx="9003971" cy="76944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Compute: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Dual-Core Xtensa® 32-bit LX7 @ up to 240 MHz + Vector Instructions (AI Acceleration).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29B1A4-CC9F-F347-4AD5-4212092A609D}"/>
              </a:ext>
            </a:extLst>
          </p:cNvPr>
          <p:cNvSpPr txBox="1"/>
          <p:nvPr/>
        </p:nvSpPr>
        <p:spPr>
          <a:xfrm>
            <a:off x="2337129" y="3888837"/>
            <a:ext cx="9967947" cy="76944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Memory: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512 KB internal SRAM, 384 KB ROM + Octal/Quad SPI Flash &amp; PSRAM (up to 16MB/32MB).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3B7BD85-AEE7-D722-61EB-EEF9DE799BD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7570" y="4573570"/>
            <a:ext cx="2284429" cy="22844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AFED41-CC85-2C00-56F4-E98115B7924D}"/>
              </a:ext>
            </a:extLst>
          </p:cNvPr>
          <p:cNvSpPr txBox="1"/>
          <p:nvPr/>
        </p:nvSpPr>
        <p:spPr>
          <a:xfrm>
            <a:off x="2337129" y="4631859"/>
            <a:ext cx="8280072" cy="76944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Wireless: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2.4 GHz Wi-Fi (802.11 b/g/n) + Bluetooth 5 (LE) with Long-Range &amp; Mesh support.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6435C3-B587-24B1-E62B-A80644788E5D}"/>
              </a:ext>
            </a:extLst>
          </p:cNvPr>
          <p:cNvSpPr txBox="1"/>
          <p:nvPr/>
        </p:nvSpPr>
        <p:spPr>
          <a:xfrm>
            <a:off x="847562" y="1326696"/>
            <a:ext cx="645493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Hardware Landscape and ESP32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61DFAC-80DC-B048-067F-BE413021E0D7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ESP32-</a:t>
            </a:r>
            <a:r>
              <a:rPr lang="en-US" sz="2800" b="1" dirty="0">
                <a:solidFill>
                  <a:schemeClr val="accent1"/>
                </a:solidFill>
                <a:latin typeface="Dosis" pitchFamily="2" charset="0"/>
              </a:rPr>
              <a:t>S3</a:t>
            </a: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 SoC: Architecture &amp; Specs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5240D9-9219-D2CB-C676-66A886ED12A4}"/>
              </a:ext>
            </a:extLst>
          </p:cNvPr>
          <p:cNvSpPr txBox="1"/>
          <p:nvPr/>
        </p:nvSpPr>
        <p:spPr>
          <a:xfrm>
            <a:off x="2337129" y="5360208"/>
            <a:ext cx="7881527" cy="76944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Power Management: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Advanced Deep-sleep (7–8𝜇𝐴), dynamic frequency scaling.</a:t>
            </a:r>
          </a:p>
        </p:txBody>
      </p:sp>
    </p:spTree>
    <p:extLst>
      <p:ext uri="{BB962C8B-B14F-4D97-AF65-F5344CB8AC3E}">
        <p14:creationId xmlns:p14="http://schemas.microsoft.com/office/powerpoint/2010/main" val="13381036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C6445E-6D10-FCAD-B1F1-3647BFC69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1EBC5B8-86A4-3444-6262-D8B2002B1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79AA401-69A8-39CC-5717-A1F847F41AD3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FA673654-B4CF-21D3-C920-7C686D599B3D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BDE20C2-0F66-5075-C133-0F91E1E5B09E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5576586C-CCF0-8D15-F3E7-6FE02A00D399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7C80F2B-C33C-7987-4F64-896AB1B95B84}"/>
              </a:ext>
            </a:extLst>
          </p:cNvPr>
          <p:cNvSpPr txBox="1"/>
          <p:nvPr/>
        </p:nvSpPr>
        <p:spPr>
          <a:xfrm>
            <a:off x="847562" y="1326696"/>
            <a:ext cx="645493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Hardware Landscape and ESP32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0FE529-4A3D-45DE-DCCF-65F9B5693EFE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ESP32</a:t>
            </a:r>
            <a:r>
              <a:rPr lang="fa-IR" sz="2800" b="1" dirty="0">
                <a:solidFill>
                  <a:srgbClr val="15032C"/>
                </a:solidFill>
                <a:latin typeface="Dosis" pitchFamily="2" charset="0"/>
              </a:rPr>
              <a:t>-</a:t>
            </a: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S3 Pinout Classification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FC1B180-FA7A-3930-91B8-BCBB2FDC60C0}"/>
                  </a:ext>
                </a:extLst>
              </p:cNvPr>
              <p:cNvSpPr txBox="1"/>
              <p:nvPr/>
            </p:nvSpPr>
            <p:spPr>
              <a:xfrm>
                <a:off x="2625838" y="2693206"/>
                <a:ext cx="10318522" cy="4093428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/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rgbClr val="15032C"/>
                    </a:solidFill>
                    <a:latin typeface="Dosis" pitchFamily="2" charset="0"/>
                  </a:rPr>
                  <a:t>Safe General GPIOs</a:t>
                </a:r>
                <a:r>
                  <a:rPr lang="en-US" sz="2000" b="1" dirty="0">
                    <a:solidFill>
                      <a:schemeClr val="bg1">
                        <a:lumMod val="50000"/>
                      </a:schemeClr>
                    </a:solidFill>
                    <a:latin typeface="Dosis" pitchFamily="2" charset="0"/>
                  </a:rPr>
                  <a:t>: GPIO 1 to 21, 35 to 48 (Full R/W, Internal Pull-up/down).</a:t>
                </a:r>
              </a:p>
              <a:p>
                <a:pPr lvl="0"/>
                <a:endParaRPr lang="en-US" sz="2000" b="1" dirty="0">
                  <a:solidFill>
                    <a:srgbClr val="15032C"/>
                  </a:solidFill>
                  <a:latin typeface="Dosis" pitchFamily="2" charset="0"/>
                </a:endParaRP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rgbClr val="15032C"/>
                    </a:solidFill>
                    <a:latin typeface="Dosis" pitchFamily="2" charset="0"/>
                  </a:rPr>
                  <a:t>Input-Only / Limited Pins: </a:t>
                </a:r>
                <a:r>
                  <a:rPr lang="en-US" sz="2000" b="1" dirty="0">
                    <a:solidFill>
                      <a:schemeClr val="bg1">
                        <a:lumMod val="50000"/>
                      </a:schemeClr>
                    </a:solidFill>
                    <a:latin typeface="Dosis" pitchFamily="2" charset="0"/>
                  </a:rPr>
                  <a:t>GPIO 42, 43 (Often tied to internal functions/Flash).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endParaRPr lang="en-US" sz="2000" b="1" dirty="0">
                  <a:solidFill>
                    <a:srgbClr val="15032C"/>
                  </a:solidFill>
                  <a:latin typeface="Dosis" pitchFamily="2" charset="0"/>
                </a:endParaRP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rgbClr val="15032C"/>
                    </a:solidFill>
                    <a:latin typeface="Dosis" pitchFamily="2" charset="0"/>
                  </a:rPr>
                  <a:t>Special Function Pins (Multiplexed):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bg1">
                        <a:lumMod val="50000"/>
                      </a:schemeClr>
                    </a:solidFill>
                    <a:latin typeface="Dosis" pitchFamily="2" charset="0"/>
                  </a:rPr>
                  <a:t>USB OTG: GPIO 19 (D-) &amp; GPIO 20 (D+) </a:t>
                </a:r>
                <a14:m>
                  <m:oMath xmlns:m="http://schemas.openxmlformats.org/officeDocument/2006/math">
                    <m:r>
                      <a:rPr lang="en-US" sz="2000" b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b="1" dirty="0">
                    <a:solidFill>
                      <a:schemeClr val="bg1">
                        <a:lumMod val="50000"/>
                      </a:schemeClr>
                    </a:solidFill>
                    <a:latin typeface="Dosis" pitchFamily="2" charset="0"/>
                  </a:rPr>
                  <a:t>Critical for Native USB.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bg1">
                        <a:lumMod val="50000"/>
                      </a:schemeClr>
                    </a:solidFill>
                    <a:latin typeface="Dosis" pitchFamily="2" charset="0"/>
                  </a:rPr>
                  <a:t>LCD/Camera Interface: Dedicated high-speed parallel pins (GPIO 39-41 etc.).</a:t>
                </a:r>
              </a:p>
              <a:p>
                <a:pPr lvl="1"/>
                <a:endParaRPr lang="en-US" sz="2000" b="1" dirty="0">
                  <a:solidFill>
                    <a:srgbClr val="15032C"/>
                  </a:solidFill>
                  <a:latin typeface="Dosis" pitchFamily="2" charset="0"/>
                </a:endParaRP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rgbClr val="15032C"/>
                    </a:solidFill>
                    <a:latin typeface="Dosis" pitchFamily="2" charset="0"/>
                  </a:rPr>
                  <a:t>Strapping Pins (Boot Config):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bg1">
                        <a:lumMod val="50000"/>
                      </a:schemeClr>
                    </a:solidFill>
                    <a:latin typeface="Dosis" pitchFamily="2" charset="0"/>
                  </a:rPr>
                  <a:t>GPIO 0: Boot Mode (Low = Download / High = Run).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bg1">
                        <a:lumMod val="50000"/>
                      </a:schemeClr>
                    </a:solidFill>
                    <a:latin typeface="Dosis" pitchFamily="2" charset="0"/>
                  </a:rPr>
                  <a:t>GPIO 45 &amp; GPIO 46: VDD_SPI voltage &amp; Boot delay control.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sz="2000" b="1" dirty="0">
                  <a:solidFill>
                    <a:srgbClr val="15032C"/>
                  </a:solidFill>
                  <a:latin typeface="Dosis" pitchFamily="2" charset="0"/>
                </a:endParaRP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rgbClr val="15032C"/>
                    </a:solidFill>
                    <a:latin typeface="Dosis" pitchFamily="2" charset="0"/>
                  </a:rPr>
                  <a:t>Analog (ADC): </a:t>
                </a:r>
                <a:r>
                  <a:rPr lang="en-US" sz="2000" b="1" dirty="0">
                    <a:solidFill>
                      <a:schemeClr val="bg1">
                        <a:lumMod val="50000"/>
                      </a:schemeClr>
                    </a:solidFill>
                    <a:latin typeface="Dosis" pitchFamily="2" charset="0"/>
                  </a:rPr>
                  <a:t>12-bit/20-bit resolution across multiple channels (Safe even with Wi-Fi).</a:t>
                </a: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FC1B180-FA7A-3930-91B8-BCBB2FDC6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838" y="2693206"/>
                <a:ext cx="10318522" cy="4093428"/>
              </a:xfrm>
              <a:prstGeom prst="rect">
                <a:avLst/>
              </a:prstGeom>
              <a:blipFill>
                <a:blip r:embed="rId4"/>
                <a:stretch>
                  <a:fillRect l="-532" t="-894" b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71887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75651A-30B9-12EF-3BA9-AC8CA0614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9F91469-C731-22A6-BF1C-7E95CF49FF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31C747A-FE13-5F7F-D5AF-F731E1A2303C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026686-4474-4A9A-B1F1-A8EC6F842B3D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5E4D94A-317A-3664-ED02-04B8EB18AB32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81F4DF7-DF53-999B-B552-B332C918B935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FF2F58B-AACA-A56D-5FEA-B72B8FD68CEB}"/>
              </a:ext>
            </a:extLst>
          </p:cNvPr>
          <p:cNvSpPr txBox="1"/>
          <p:nvPr/>
        </p:nvSpPr>
        <p:spPr>
          <a:xfrm>
            <a:off x="2337129" y="2949545"/>
            <a:ext cx="9003971" cy="113877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Strapping Pins (Boot Traps): </a:t>
            </a:r>
          </a:p>
          <a:p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               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GPIO 0: Low = Flash Bootloader mode / High = Normal SPI Boot.</a:t>
            </a:r>
          </a:p>
          <a:p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                   GPIO 2 &amp; GPIO 12: Level affects boot voltage and flashing stat.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AB7D0457-725F-40B4-461B-3E5D1F0F484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7570" y="4573570"/>
            <a:ext cx="2284429" cy="22844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0EA5599-E1D9-16F6-75F5-46805B6E4757}"/>
              </a:ext>
            </a:extLst>
          </p:cNvPr>
          <p:cNvSpPr txBox="1"/>
          <p:nvPr/>
        </p:nvSpPr>
        <p:spPr>
          <a:xfrm>
            <a:off x="2337129" y="4179026"/>
            <a:ext cx="8280072" cy="113877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ADC Limitations (ADC1 vs. ADC2): </a:t>
            </a:r>
          </a:p>
          <a:p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               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ADC1 (GPIO 32 to 39): Safe to use anytime.</a:t>
            </a:r>
          </a:p>
          <a:p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                   ADC2 (GPIO 0, 2, 4, 12-15, 25-27): Disabled when Wi-Fi is active!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038EE5-5D85-AE43-0C4C-384AC202C131}"/>
              </a:ext>
            </a:extLst>
          </p:cNvPr>
          <p:cNvSpPr txBox="1"/>
          <p:nvPr/>
        </p:nvSpPr>
        <p:spPr>
          <a:xfrm>
            <a:off x="847562" y="1326696"/>
            <a:ext cx="645493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Hardware Landscape and ESP32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849069-11D9-951C-3DB1-57EFFD895561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Critical Hardware Pitfalls</a:t>
            </a:r>
          </a:p>
        </p:txBody>
      </p:sp>
    </p:spTree>
    <p:extLst>
      <p:ext uri="{BB962C8B-B14F-4D97-AF65-F5344CB8AC3E}">
        <p14:creationId xmlns:p14="http://schemas.microsoft.com/office/powerpoint/2010/main" val="161859160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F9DACB-4325-3C17-D069-82DE95C0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DFC09E-61AF-F3D1-F9AF-EE81A87621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6F5C8F1-B8DC-5D4F-889C-987B7B879FF4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22B28071-23B3-24BB-D015-CDD8E8249BA3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6C295A0-F57F-79DB-563F-CAEBD9CB24ED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74529C1-08ED-5B92-7F70-43336CFA2DBB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EA0074-A5EE-85B0-D89B-E03F99376DD2}"/>
              </a:ext>
            </a:extLst>
          </p:cNvPr>
          <p:cNvSpPr txBox="1"/>
          <p:nvPr/>
        </p:nvSpPr>
        <p:spPr>
          <a:xfrm>
            <a:off x="847562" y="1326696"/>
            <a:ext cx="645493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Essential Electronics for IoT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DF36F05-E458-3EFD-4A15-B37BC0248845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Logic Level Matching: The Silent Killer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5899449-BBEB-459D-584B-2D5FAE69059E}"/>
              </a:ext>
            </a:extLst>
          </p:cNvPr>
          <p:cNvSpPr txBox="1"/>
          <p:nvPr/>
        </p:nvSpPr>
        <p:spPr>
          <a:xfrm>
            <a:off x="1685763" y="2847891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Power Integrity &amp; Stability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46C61CC-232B-7526-CD32-393733613114}"/>
              </a:ext>
            </a:extLst>
          </p:cNvPr>
          <p:cNvSpPr txBox="1"/>
          <p:nvPr/>
        </p:nvSpPr>
        <p:spPr>
          <a:xfrm>
            <a:off x="1685763" y="3525796"/>
            <a:ext cx="786855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I2C &amp; Bus Fragility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450EC90-D0A0-F9B8-C412-C42229E6006B}"/>
              </a:ext>
            </a:extLst>
          </p:cNvPr>
          <p:cNvSpPr txBox="1"/>
          <p:nvPr/>
        </p:nvSpPr>
        <p:spPr>
          <a:xfrm>
            <a:off x="1685763" y="4203701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Industrial Noise &amp; Protection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29F648-BC2F-880E-94EF-02A14E06E7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320" y="4049016"/>
            <a:ext cx="2999303" cy="299930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835514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2A14B6-D2C5-3697-C076-44321822C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53C570-FD65-1AC6-3A31-1FD7F078CB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7D3B59F4-3B9A-C5CE-9F20-150F60180F76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F084F010-9C2C-0078-F342-2BAF9CD964BD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5A025BA-A93C-A1D9-EBD5-EF14FCEBC3F8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67BD381-93A5-DC9C-1AC6-340F9B9092D5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17BE462-4788-BBC9-E583-C560363D2B83}"/>
              </a:ext>
            </a:extLst>
          </p:cNvPr>
          <p:cNvSpPr txBox="1"/>
          <p:nvPr/>
        </p:nvSpPr>
        <p:spPr>
          <a:xfrm>
            <a:off x="2318525" y="2924145"/>
            <a:ext cx="9003971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The Trap: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Mixing 3.3V (ESP32) and 5V (Arduino/Sensors) logic.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613EA9B-DF3F-FFC2-9CFA-857065FB0B2F}"/>
              </a:ext>
            </a:extLst>
          </p:cNvPr>
          <p:cNvSpPr txBox="1"/>
          <p:nvPr/>
        </p:nvSpPr>
        <p:spPr>
          <a:xfrm>
            <a:off x="2318525" y="3531595"/>
            <a:ext cx="9967947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The Risk: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Permanent damage or “ghost” resets due to threshold ambiguity.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2FA9833-AEC1-289A-8DEB-18116F0111C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07570" y="4573570"/>
            <a:ext cx="2284429" cy="22844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09F289-C019-A8D5-1F03-FD5851C4D067}"/>
              </a:ext>
            </a:extLst>
          </p:cNvPr>
          <p:cNvSpPr txBox="1"/>
          <p:nvPr/>
        </p:nvSpPr>
        <p:spPr>
          <a:xfrm>
            <a:off x="2318525" y="4135056"/>
            <a:ext cx="8280072" cy="830997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The Solution: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Bidirectional Level Shifters (MOSFET-based) or Voltage Dividers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.</a:t>
            </a:r>
            <a:endParaRPr lang="en-US" sz="2000" b="1" dirty="0">
              <a:solidFill>
                <a:schemeClr val="bg2">
                  <a:lumMod val="50000"/>
                </a:schemeClr>
              </a:solidFill>
              <a:latin typeface="Dosis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C8C564-08B5-C93B-0167-94FD2F68F586}"/>
              </a:ext>
            </a:extLst>
          </p:cNvPr>
          <p:cNvSpPr txBox="1"/>
          <p:nvPr/>
        </p:nvSpPr>
        <p:spPr>
          <a:xfrm>
            <a:off x="847562" y="1326696"/>
            <a:ext cx="645493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Essential Electronics for IoT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FA1E3E-DB0F-751A-3C27-76EE8F49033E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Logic Level Matching: The Silent Killer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0DBCC8-AB66-1260-D16A-4AF76575A1AF}"/>
              </a:ext>
            </a:extLst>
          </p:cNvPr>
          <p:cNvSpPr txBox="1"/>
          <p:nvPr/>
        </p:nvSpPr>
        <p:spPr>
          <a:xfrm>
            <a:off x="2318525" y="4966053"/>
            <a:ext cx="7881527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Pro Tip: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Never trust a 5V sensor signal directly into an ESP32 GPIO!</a:t>
            </a:r>
          </a:p>
        </p:txBody>
      </p:sp>
    </p:spTree>
    <p:extLst>
      <p:ext uri="{BB962C8B-B14F-4D97-AF65-F5344CB8AC3E}">
        <p14:creationId xmlns:p14="http://schemas.microsoft.com/office/powerpoint/2010/main" val="19509162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D05F37-B05A-59AD-2CCB-486C0F58F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02A0BC6-887D-3EE2-8FEF-3B65C68CB4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A6AF8959-7158-B63F-7A0F-0AD15D6AA87E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4C95E138-7716-C257-A8F7-BE04DA51AAC4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008DF72-357D-AC15-E0A4-4BA92EB8B78E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5E38AFF4-FE4F-BD30-5818-AFE8EB40C969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7177F9A-8A5A-0232-35F4-D29649917E42}"/>
              </a:ext>
            </a:extLst>
          </p:cNvPr>
          <p:cNvSpPr txBox="1"/>
          <p:nvPr/>
        </p:nvSpPr>
        <p:spPr>
          <a:xfrm>
            <a:off x="2337129" y="2924145"/>
            <a:ext cx="9003971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The Problem: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Wi-Fi TX spikes (up to 500mA) cause voltage drops.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A57CF46-3136-1BE4-3709-045AA4E13862}"/>
              </a:ext>
            </a:extLst>
          </p:cNvPr>
          <p:cNvSpPr txBox="1"/>
          <p:nvPr/>
        </p:nvSpPr>
        <p:spPr>
          <a:xfrm>
            <a:off x="2318525" y="3531595"/>
            <a:ext cx="9967947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The Symptom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: Random resets, Wi-Fi disconnects, “Brownout Detector” errors.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60D42FA-9B04-CE39-9585-CBDE36A5066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7570" y="4573570"/>
            <a:ext cx="2284429" cy="22844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36A060C-E8CE-6525-CED4-2F8130EE6B29}"/>
              </a:ext>
            </a:extLst>
          </p:cNvPr>
          <p:cNvSpPr txBox="1"/>
          <p:nvPr/>
        </p:nvSpPr>
        <p:spPr>
          <a:xfrm>
            <a:off x="2337129" y="4135056"/>
            <a:ext cx="8280072" cy="113877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The Fix: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Bulk Capacitor (100𝜇𝐹 to 470𝜇𝐹electrolytic) near the </a:t>
            </a:r>
            <a:r>
              <a:rPr lang="en-US" sz="2000" b="1" dirty="0" err="1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SoC.</a:t>
            </a:r>
            <a:endParaRPr lang="en-US" sz="2000" b="1" dirty="0">
              <a:solidFill>
                <a:schemeClr val="bg2">
                  <a:lumMod val="50000"/>
                </a:schemeClr>
              </a:solidFill>
              <a:latin typeface="Dosis" pitchFamily="2" charset="0"/>
            </a:endParaRPr>
          </a:p>
          <a:p>
            <a:r>
              <a:rPr lang="fa-IR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              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Decoupling Capacitor (0.1𝜇𝐹 ceramic) on every power pin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.</a:t>
            </a:r>
          </a:p>
          <a:p>
            <a:r>
              <a:rPr lang="fa-IR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              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Good power trace width (avoid thin tracks for VCC/GND)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88F21A-0750-DC2D-1BB1-2A2BFC83094F}"/>
              </a:ext>
            </a:extLst>
          </p:cNvPr>
          <p:cNvSpPr txBox="1"/>
          <p:nvPr/>
        </p:nvSpPr>
        <p:spPr>
          <a:xfrm>
            <a:off x="847562" y="1326696"/>
            <a:ext cx="645493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Essential Electronics for IoT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B08B8D-D428-3379-0B78-C5CBE16BFEE0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Power Integrity &amp; Stability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1E689F-0D0E-7258-5805-415EB71FC0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492" y="4440901"/>
            <a:ext cx="2999303" cy="299930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7001546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4F7087-6B00-0DF1-0E33-4F903F0F0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3C3627D-5E20-7259-DEC7-EB72622F3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EED4005-F377-D5C0-0127-D014EAB2A38F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D079DC18-694E-D52B-2C10-FA9CB7A196F1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2357F5D-B30D-E1C5-C779-FF933B9D37AB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CD940B2-E86B-E5EE-47F2-8B0DCDB9AECF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0E57089-1AF0-BB2A-C326-E2B1843DB480}"/>
              </a:ext>
            </a:extLst>
          </p:cNvPr>
          <p:cNvSpPr txBox="1"/>
          <p:nvPr/>
        </p:nvSpPr>
        <p:spPr>
          <a:xfrm>
            <a:off x="2337129" y="2924145"/>
            <a:ext cx="9003971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The Reality: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I2C is NOT designed for long cables.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F15E629-D87C-B1EE-AD39-432065448053}"/>
              </a:ext>
            </a:extLst>
          </p:cNvPr>
          <p:cNvSpPr txBox="1"/>
          <p:nvPr/>
        </p:nvSpPr>
        <p:spPr>
          <a:xfrm>
            <a:off x="2318525" y="3531595"/>
            <a:ext cx="9967947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The Pull-up Rule: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Essential for Open-Drain pins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AB019329-6A89-0E2A-0F12-274ABF3234AE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7570" y="4573570"/>
            <a:ext cx="2284429" cy="22844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7EFABF-62D8-62F1-EF67-0EBCD9C72770}"/>
              </a:ext>
            </a:extLst>
          </p:cNvPr>
          <p:cNvSpPr txBox="1"/>
          <p:nvPr/>
        </p:nvSpPr>
        <p:spPr>
          <a:xfrm>
            <a:off x="2337129" y="4135056"/>
            <a:ext cx="8280072" cy="144655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Troubleshooting: </a:t>
            </a:r>
            <a:endParaRPr lang="fa-IR" sz="2400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fa-IR" sz="2400" b="1" dirty="0">
                <a:solidFill>
                  <a:srgbClr val="15032C"/>
                </a:solidFill>
                <a:latin typeface="Dosis" pitchFamily="2" charset="0"/>
              </a:rPr>
              <a:t>      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Use 2.2kΩ to 4.7kΩ pull-up resistors.</a:t>
            </a:r>
            <a:endParaRPr lang="fa-IR" sz="2000" b="1" dirty="0">
              <a:solidFill>
                <a:schemeClr val="bg2">
                  <a:lumMod val="50000"/>
                </a:schemeClr>
              </a:solidFill>
              <a:latin typeface="Dosis" pitchFamily="2" charset="0"/>
            </a:endParaRPr>
          </a:p>
          <a:p>
            <a:r>
              <a:rPr lang="fa-IR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      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If cable length &gt; 1 meter: Use an I2C Extender or switch to RS485/CAN.</a:t>
            </a:r>
            <a:r>
              <a:rPr lang="fa-IR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</a:t>
            </a:r>
            <a:endParaRPr lang="en-US" sz="2000" b="1" dirty="0">
              <a:solidFill>
                <a:schemeClr val="bg2">
                  <a:lumMod val="50000"/>
                </a:schemeClr>
              </a:solidFill>
              <a:latin typeface="Dosis" pitchFamily="2" charset="0"/>
            </a:endParaRPr>
          </a:p>
          <a:p>
            <a:r>
              <a:rPr lang="fa-IR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      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Check bus speed (400kHz vs 100kHz).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6E36BC-F376-961D-4F06-60E7A8822603}"/>
              </a:ext>
            </a:extLst>
          </p:cNvPr>
          <p:cNvSpPr txBox="1"/>
          <p:nvPr/>
        </p:nvSpPr>
        <p:spPr>
          <a:xfrm>
            <a:off x="847562" y="1326696"/>
            <a:ext cx="645493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Essential Electronics for IoT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482D3F-1C86-0BEC-2DAE-4A3679D14FD8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I2C &amp; Bus Fragility</a:t>
            </a:r>
          </a:p>
        </p:txBody>
      </p:sp>
    </p:spTree>
    <p:extLst>
      <p:ext uri="{BB962C8B-B14F-4D97-AF65-F5344CB8AC3E}">
        <p14:creationId xmlns:p14="http://schemas.microsoft.com/office/powerpoint/2010/main" val="29108924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49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3A7586-183E-FED0-7B68-12F6F6EE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1C28EB5-B376-FD12-7B4B-4752A0FBFF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495C465-5467-BB70-4DA2-9CB85A6DE73A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026B5421-373A-C3ED-D3F9-3C39D16557DF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BEE0103-6F1F-53D4-806D-F5928A50E192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D386627-F401-E178-1D7D-3812960ECA2C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B97C11-9AF6-AFD9-6415-AC90208D7326}"/>
              </a:ext>
            </a:extLst>
          </p:cNvPr>
          <p:cNvSpPr txBox="1"/>
          <p:nvPr/>
        </p:nvSpPr>
        <p:spPr>
          <a:xfrm>
            <a:off x="2337129" y="2924145"/>
            <a:ext cx="9003971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EMI Sources: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Motors, Relays, Inverters, AC lines.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69CC98F-1DCB-152D-7B4F-1B7C5853AB36}"/>
              </a:ext>
            </a:extLst>
          </p:cNvPr>
          <p:cNvSpPr txBox="1"/>
          <p:nvPr/>
        </p:nvSpPr>
        <p:spPr>
          <a:xfrm>
            <a:off x="2337129" y="3511976"/>
            <a:ext cx="9967947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Protection: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Use Opto-couplers for Relay control &amp; TVS Diodes for ESD.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C004AB2A-79EF-0508-5276-B705C66647FD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07570" y="4573570"/>
            <a:ext cx="2284429" cy="228442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87173CE-1FA2-CBEB-599B-B6B185B334B5}"/>
              </a:ext>
            </a:extLst>
          </p:cNvPr>
          <p:cNvSpPr txBox="1"/>
          <p:nvPr/>
        </p:nvSpPr>
        <p:spPr>
          <a:xfrm>
            <a:off x="2337129" y="3985739"/>
            <a:ext cx="8280072" cy="113877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Wiring Best Practices:</a:t>
            </a:r>
          </a:p>
          <a:p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      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Keep Signal wires away from Power/AC lines.</a:t>
            </a:r>
          </a:p>
          <a:p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         Use Twisted Pair for differential signals.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39925C-16E5-719D-2D46-FF29B2ADE069}"/>
              </a:ext>
            </a:extLst>
          </p:cNvPr>
          <p:cNvSpPr txBox="1"/>
          <p:nvPr/>
        </p:nvSpPr>
        <p:spPr>
          <a:xfrm>
            <a:off x="847562" y="1326696"/>
            <a:ext cx="645493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Essential Electronics for IoT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0129F4-F16B-5AD8-279B-8CECF66CF0D4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Industrial Noise &amp; Protection</a:t>
            </a:r>
          </a:p>
        </p:txBody>
      </p:sp>
    </p:spTree>
    <p:extLst>
      <p:ext uri="{BB962C8B-B14F-4D97-AF65-F5344CB8AC3E}">
        <p14:creationId xmlns:p14="http://schemas.microsoft.com/office/powerpoint/2010/main" val="20833287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rgbClr val="FBFBFB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58FBC2-338A-F986-D046-CCABB31A1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C14C049-FC54-2938-95DC-B5EEF5A2EF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5E9E02FC-996C-BC20-A9FA-4C3A279FAA6C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58D20714-B050-78DF-ED6E-8F87191F0617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7F57902-3F4A-3C77-7FCE-5400946D4FEC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41A5758D-BB50-DEAC-AB34-442DFBFD3186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289E9D6-35A7-A4C9-ECC8-4C2122C3C72A}"/>
              </a:ext>
            </a:extLst>
          </p:cNvPr>
          <p:cNvSpPr txBox="1"/>
          <p:nvPr/>
        </p:nvSpPr>
        <p:spPr>
          <a:xfrm>
            <a:off x="847562" y="1326696"/>
            <a:ext cx="802066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Development Environment and Toolchain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C1ACB31-1EE6-4D2E-91D9-54B209DD0CB5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Development Toolchains: The Big Picture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9D091AC-2186-202A-488C-864FE1D724ED}"/>
              </a:ext>
            </a:extLst>
          </p:cNvPr>
          <p:cNvSpPr txBox="1"/>
          <p:nvPr/>
        </p:nvSpPr>
        <p:spPr>
          <a:xfrm>
            <a:off x="1685763" y="2847891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Sketch Anatomy: The Core Structure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1EE8E80-C861-C642-C815-5033BA6EB498}"/>
              </a:ext>
            </a:extLst>
          </p:cNvPr>
          <p:cNvSpPr txBox="1"/>
          <p:nvPr/>
        </p:nvSpPr>
        <p:spPr>
          <a:xfrm>
            <a:off x="1685763" y="3525796"/>
            <a:ext cx="786855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Library Management: Scaling Complexity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63BB6DD-E990-0D72-131D-48299A651337}"/>
              </a:ext>
            </a:extLst>
          </p:cNvPr>
          <p:cNvSpPr txBox="1"/>
          <p:nvPr/>
        </p:nvSpPr>
        <p:spPr>
          <a:xfrm>
            <a:off x="1685763" y="4203701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The Hidden Process: Building &amp; Flashing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EE951F-2C76-FFDF-786F-71A184D392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297614" y="3858697"/>
            <a:ext cx="2999303" cy="299930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14252718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rgbClr val="FBFBFB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7E84C7-43C2-CD9A-807D-E57670EE9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954184C-04DF-847D-F43A-12CA3FFDAC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733E0EE-B8F4-C83F-B033-739CA30CBED6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F5B4D9FC-616C-143F-D5F7-A546A0CA2686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4A81936-87A4-E6D4-D25E-E03239B57AB8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E4A5200-E73E-6A89-1D41-FA20C2EB5A6D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44E326-E4C4-86FB-0B0C-7B62652E1650}"/>
              </a:ext>
            </a:extLst>
          </p:cNvPr>
          <p:cNvSpPr txBox="1"/>
          <p:nvPr/>
        </p:nvSpPr>
        <p:spPr>
          <a:xfrm>
            <a:off x="847562" y="1326696"/>
            <a:ext cx="802066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Development Environment and Toolchain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19E22A6-2B50-2092-2D59-0B1B0611969F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Development Toolchains: The Big Picture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2B113F-97EF-D126-BE25-98F330E4DF23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70184" y="4419451"/>
            <a:ext cx="2999303" cy="240029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0960BA-1D06-7920-F936-9AA9B14A35C9}"/>
              </a:ext>
            </a:extLst>
          </p:cNvPr>
          <p:cNvSpPr txBox="1"/>
          <p:nvPr/>
        </p:nvSpPr>
        <p:spPr>
          <a:xfrm>
            <a:off x="2184793" y="2890165"/>
            <a:ext cx="7801036" cy="310854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Pro Environments: </a:t>
            </a:r>
            <a:r>
              <a:rPr lang="en-US" sz="2000" b="1" dirty="0" err="1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VSCode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+ </a:t>
            </a:r>
            <a:r>
              <a:rPr lang="en-US" sz="2000" b="1" dirty="0" err="1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PlatformIO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, ESP-IDF (</a:t>
            </a:r>
            <a:r>
              <a:rPr lang="en-US" sz="2000" b="1" dirty="0" err="1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Espressif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IoT Development Framework) →Used in production &amp; large-scale firmware.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Beginner Friendly: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Arduino IDE (Integrated Development Environment) →Fast setup, minimal friction.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The Golden Rule: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The underlying C++ logic, APIs, and hardware registers are identical!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Our Strategy: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Master the fundamentals in Arduino IDE first, </a:t>
            </a:r>
            <a:endParaRPr lang="fa-IR" sz="2000" b="1" dirty="0">
              <a:solidFill>
                <a:schemeClr val="bg2">
                  <a:lumMod val="50000"/>
                </a:schemeClr>
              </a:solidFill>
              <a:latin typeface="Dosis" pitchFamily="2" charset="0"/>
            </a:endParaRPr>
          </a:p>
          <a:p>
            <a:r>
              <a:rPr lang="fa-IR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     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then scale to advanced IDEs.</a:t>
            </a:r>
          </a:p>
        </p:txBody>
      </p:sp>
    </p:spTree>
    <p:extLst>
      <p:ext uri="{BB962C8B-B14F-4D97-AF65-F5344CB8AC3E}">
        <p14:creationId xmlns:p14="http://schemas.microsoft.com/office/powerpoint/2010/main" val="18240308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rgbClr val="FBFBFB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B94569-5774-6678-0E03-747C508AE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F2F50D5-F622-D74E-1DE9-09C7EFDCC8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A42D4C32-7AD8-AA85-299A-914368905F58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EBCFCAD-0A20-3F64-4B9B-889DE714398D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10F2F84-D83E-B607-0FC6-EC5733D75C1A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6D681A69-E829-B4C2-1303-AEBCA9C0E617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F663B21-D62E-9321-B1E9-FA70B12E6D2C}"/>
              </a:ext>
            </a:extLst>
          </p:cNvPr>
          <p:cNvSpPr txBox="1"/>
          <p:nvPr/>
        </p:nvSpPr>
        <p:spPr>
          <a:xfrm>
            <a:off x="847562" y="1326696"/>
            <a:ext cx="802066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Development Environment and Toolchain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28D4AA8-C6E8-8582-F6DC-F7021090E11C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Sketch Anatomy: The Core Structure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344D5C-A433-A5D6-DE68-D6B4E161C568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70184" y="4419451"/>
            <a:ext cx="2999303" cy="240029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2081DF-A58A-3DE8-63B5-E12AE0FB6601}"/>
              </a:ext>
            </a:extLst>
          </p:cNvPr>
          <p:cNvSpPr txBox="1"/>
          <p:nvPr/>
        </p:nvSpPr>
        <p:spPr>
          <a:xfrm>
            <a:off x="2184793" y="2890165"/>
            <a:ext cx="7801036" cy="193899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Sketch: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The term for an Arduino program.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void setup():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Initialization block (Runs once on reset).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void loop():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The main engine (Runs infinitely).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MCU (Microcontroller Unit):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The target hardware (ESP32).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Digital/Analog Pins: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Defining I/O interfaces via </a:t>
            </a:r>
            <a:r>
              <a:rPr lang="en-US" sz="2000" b="1" dirty="0" err="1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pinMode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().</a:t>
            </a:r>
          </a:p>
        </p:txBody>
      </p:sp>
    </p:spTree>
    <p:extLst>
      <p:ext uri="{BB962C8B-B14F-4D97-AF65-F5344CB8AC3E}">
        <p14:creationId xmlns:p14="http://schemas.microsoft.com/office/powerpoint/2010/main" val="35178858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rgbClr val="FDFDFD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A17F1E-5582-DD5F-5001-3572CF1F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2F89082-8445-5EE6-79A3-7733BE0AFC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3AD14FA-0717-2E0E-6508-56F7A66DD795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F2D2E34C-902C-04F9-F62F-2301028BA65E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AF9A3E0-233A-2A22-3461-D5854309A794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CD9B605-4DE8-61CB-4511-F40F680B984F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3AC643D-827B-A414-D803-FAA9AA5303C2}"/>
              </a:ext>
            </a:extLst>
          </p:cNvPr>
          <p:cNvSpPr txBox="1"/>
          <p:nvPr/>
        </p:nvSpPr>
        <p:spPr>
          <a:xfrm>
            <a:off x="847562" y="1326696"/>
            <a:ext cx="802066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Development Environment and Toolchain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339B771-D79C-1242-E56A-B41205712EEC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Library Management: Scaling Complexity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615893-3DD8-B647-BC3C-CFB7CB377892}"/>
              </a:ext>
            </a:extLst>
          </p:cNvPr>
          <p:cNvSpPr txBox="1"/>
          <p:nvPr/>
        </p:nvSpPr>
        <p:spPr>
          <a:xfrm>
            <a:off x="2184793" y="2890165"/>
            <a:ext cx="7801036" cy="255454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What is a Library?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A collection of code that hides complexity (Abstraction).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API (Application Programming Interface):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The “interface” to use complex hardware (e.g., MQTT, Sensor Drivers).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Library Manager: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How to install, manage, and update code packages.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Rule: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Don’t reinvent the wheel! Use verified libraries.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83A033-CC20-3D53-D59C-A9620BE596B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3622" y="4905829"/>
            <a:ext cx="2439344" cy="195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7998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rgbClr val="FDFDFD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405914-8E41-B882-93A3-598C08C95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4C224-FBB4-686E-8600-4819975DA1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215D549-5D83-81F0-979B-88739C04DEE3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D9CA618B-E6FE-089E-320C-0DFB17CD15DD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1A594C4-66B8-4675-9B40-3725AF24717B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80771D8-6C5B-C309-85C5-6518292F930D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B214B23-4CB2-AF25-FAE4-296E862B8380}"/>
              </a:ext>
            </a:extLst>
          </p:cNvPr>
          <p:cNvSpPr txBox="1"/>
          <p:nvPr/>
        </p:nvSpPr>
        <p:spPr>
          <a:xfrm>
            <a:off x="847562" y="1326696"/>
            <a:ext cx="802066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Development Environment and Toolchain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4A51078-E0F0-8BBC-B6C8-BA1A2D057BC3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The Hidden Process: Building &amp; Flashing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586798-E60C-F93B-7097-B2821EAAEF31}"/>
              </a:ext>
            </a:extLst>
          </p:cNvPr>
          <p:cNvSpPr txBox="1"/>
          <p:nvPr/>
        </p:nvSpPr>
        <p:spPr>
          <a:xfrm>
            <a:off x="2184793" y="2890165"/>
            <a:ext cx="7801036" cy="1877437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Compilation: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Translating human-readable C++ to machine code (Binary).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Flash Memory: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Where your program lives on the ESP32.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Serial Monitor: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The window into your device’s soul (Debugging).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Baud Rate: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The speed of communication (e.g., 115200).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EC3A7A-1E66-C647-5D8C-1652A6968BE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3622" y="4905829"/>
            <a:ext cx="2439344" cy="195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1475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rgbClr val="FBFBFB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668184-3EDF-C448-A5EB-BC0ACC341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39A5C61-E712-3031-E081-09E3FBB4D2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B595FD0-60C0-50CC-FF34-5CF2B05729F0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D0E3A649-4AC9-12D8-B387-C30711603314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5A57E8B-5133-9375-720D-3F76A80F511B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CC710F4-34FC-7043-8A73-C70794FE78FF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C0CB4E5-995E-0A27-1504-DF78453B0C36}"/>
              </a:ext>
            </a:extLst>
          </p:cNvPr>
          <p:cNvSpPr txBox="1"/>
          <p:nvPr/>
        </p:nvSpPr>
        <p:spPr>
          <a:xfrm>
            <a:off x="847562" y="1326696"/>
            <a:ext cx="802066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Firmware Fundamentals and Interfacing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A807564-85E5-5058-C8F4-4BE89380F360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Interfacing : Digital vs. Analog Signals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F12DCA1-A674-7EAB-ABAA-7D895429834A}"/>
              </a:ext>
            </a:extLst>
          </p:cNvPr>
          <p:cNvSpPr txBox="1"/>
          <p:nvPr/>
        </p:nvSpPr>
        <p:spPr>
          <a:xfrm>
            <a:off x="1685763" y="2847891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Execution Logic: The Pitfall of delay()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DCB1DB-C627-F7F6-CD3A-5B9FF349F2DA}"/>
              </a:ext>
            </a:extLst>
          </p:cNvPr>
          <p:cNvSpPr txBox="1"/>
          <p:nvPr/>
        </p:nvSpPr>
        <p:spPr>
          <a:xfrm>
            <a:off x="1685763" y="3525796"/>
            <a:ext cx="786855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Digital Buses: How Chips Talk to Chips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F432AD0-334E-533C-0F43-0DA18EB89392}"/>
              </a:ext>
            </a:extLst>
          </p:cNvPr>
          <p:cNvSpPr txBox="1"/>
          <p:nvPr/>
        </p:nvSpPr>
        <p:spPr>
          <a:xfrm>
            <a:off x="1685763" y="4203701"/>
            <a:ext cx="7923909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Controlling the Real World: Actuator Interfacing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4026A4-661E-F0F2-DDCD-E2FDF21782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297614" y="3858697"/>
            <a:ext cx="2999303" cy="299930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45383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rgbClr val="FDFDFD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D6B22F-600B-ABCA-1A73-9FF8472DD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4832600-E6CE-058D-79CD-CAEFD1CCD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D406DC6F-932E-1695-7B39-9B718965D0C4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CEFAC481-59BD-9AB6-5341-76749AED1FAF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7023C87-8A8D-5112-1D29-F344412BB818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FA744DD-E418-728B-8855-D716D4BDA4F8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65B4EB-72CD-23E2-3155-0F80254278DE}"/>
              </a:ext>
            </a:extLst>
          </p:cNvPr>
          <p:cNvSpPr txBox="1"/>
          <p:nvPr/>
        </p:nvSpPr>
        <p:spPr>
          <a:xfrm>
            <a:off x="2054167" y="2890165"/>
            <a:ext cx="7801036" cy="304698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Digital I/O (GPIO):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Discrete states →HIGH (3.3V) / LOW (0V). 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Inputs: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Push buttons, PIR motion sensors, Limit switches.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Outputs: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LEDs, Relay triggers, Buzzer signals.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Analog Inputs (ADC ):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Continuous voltage (0 to 3.3V). 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Resolution: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12-bit ADC on ESP32-S3 →Values from 0 to 4095.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Sensors: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LDR (Light), Potentiometer, Analog soil moisture.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Analog Outputs (PWM):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Simulating analog voltage via duty cycle. 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Use Cases: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LED Dimming, Motor speed control, Servo positioning.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9A60CD-36D6-64E8-A88B-7C4FB71AF71C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3622" y="4905829"/>
            <a:ext cx="2439344" cy="195217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73C0D99-DE81-D778-C5CA-29D81BD1851A}"/>
              </a:ext>
            </a:extLst>
          </p:cNvPr>
          <p:cNvSpPr txBox="1"/>
          <p:nvPr/>
        </p:nvSpPr>
        <p:spPr>
          <a:xfrm>
            <a:off x="847562" y="1326696"/>
            <a:ext cx="802066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Firmware Fundamentals and Interfacing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C2D6DC-5367-B853-56D7-CCCCD11624C0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Interfacing : Digital vs. Analog Signals</a:t>
            </a:r>
          </a:p>
        </p:txBody>
      </p:sp>
    </p:spTree>
    <p:extLst>
      <p:ext uri="{BB962C8B-B14F-4D97-AF65-F5344CB8AC3E}">
        <p14:creationId xmlns:p14="http://schemas.microsoft.com/office/powerpoint/2010/main" val="29781801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rgbClr val="FDFDFD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DB921-B09C-1178-FF9C-18D13489C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BEF4523-1E84-FAA5-3670-7723F0D6FD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AD387D38-A664-C53E-E87A-8447630F42A6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336A4E5A-CCAE-1AB9-C81B-4031FC528282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A4A1BCE-22B4-4620-960F-10FDF958E000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032E7E5-F1AF-81EC-8677-EB2E60CF37C4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415B5C-3ED2-C731-67EA-CCF9BBA7C3F1}"/>
              </a:ext>
            </a:extLst>
          </p:cNvPr>
          <p:cNvSpPr txBox="1"/>
          <p:nvPr/>
        </p:nvSpPr>
        <p:spPr>
          <a:xfrm>
            <a:off x="2066575" y="2693206"/>
            <a:ext cx="8439662" cy="255454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Blocking Code (delay()):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Halts the MCU entirely. </a:t>
            </a:r>
          </a:p>
          <a:p>
            <a:r>
              <a:rPr lang="fa-IR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     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❌ Missed sensor events &amp; interrupts.</a:t>
            </a:r>
          </a:p>
          <a:p>
            <a:r>
              <a:rPr lang="fa-IR" sz="2400" b="1" dirty="0">
                <a:solidFill>
                  <a:srgbClr val="15032C"/>
                </a:solidFill>
                <a:latin typeface="Dosis" pitchFamily="2" charset="0"/>
              </a:rPr>
              <a:t>     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❌ Wi-Fi/MQTT connection drops (Watchdog timer timeouts).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Non-blocking Code (</a:t>
            </a:r>
            <a:r>
              <a:rPr lang="en-US" sz="2400" b="1" dirty="0" err="1">
                <a:solidFill>
                  <a:srgbClr val="15032C"/>
                </a:solidFill>
                <a:latin typeface="Dosis" pitchFamily="2" charset="0"/>
              </a:rPr>
              <a:t>millis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()):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Asynchronous time tracking. </a:t>
            </a:r>
          </a:p>
          <a:p>
            <a:r>
              <a:rPr lang="fa-IR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   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The “Stopwatch” concept →Check elapsed time without freezing the CPU.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Industry Best Practice: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In real-time IoT firmware, never block the main loop!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9799A2-D51B-B925-EA75-44F3BBA39CE2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33622" y="4905829"/>
            <a:ext cx="2439343" cy="195217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BE00F4F-CF8B-4CE5-CF53-7B71B8E1C26C}"/>
              </a:ext>
            </a:extLst>
          </p:cNvPr>
          <p:cNvSpPr txBox="1"/>
          <p:nvPr/>
        </p:nvSpPr>
        <p:spPr>
          <a:xfrm>
            <a:off x="847562" y="1326696"/>
            <a:ext cx="802066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Firmware Fundamentals and Interfacing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1E2C5C-D62D-E330-F924-5597D289C69C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Execution Logic: The Pitfall of delay()</a:t>
            </a:r>
          </a:p>
        </p:txBody>
      </p:sp>
    </p:spTree>
    <p:extLst>
      <p:ext uri="{BB962C8B-B14F-4D97-AF65-F5344CB8AC3E}">
        <p14:creationId xmlns:p14="http://schemas.microsoft.com/office/powerpoint/2010/main" val="8488048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rgbClr val="FDFDFD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8B9EF2-81FC-6142-8406-94D7E80AC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0D16EE6-9B70-0BB3-492B-A04886CDF7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8C5C88C-25F5-08FB-8811-F1AF09D8F6AB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FC241C90-02E7-92C8-57E5-E281810EBC49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FCF2254-6418-4D3C-7201-D7469F0C9944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59E58FD-FCDD-8C42-7163-007F9497D18D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F4A800-EF99-FBED-C988-A73C9BF0C0AB}"/>
              </a:ext>
            </a:extLst>
          </p:cNvPr>
          <p:cNvSpPr txBox="1"/>
          <p:nvPr/>
        </p:nvSpPr>
        <p:spPr>
          <a:xfrm>
            <a:off x="2066575" y="2672241"/>
            <a:ext cx="9791596" cy="3231654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UART (Universal Asynchronous Receiver-Transmitter): </a:t>
            </a:r>
          </a:p>
          <a:p>
            <a:r>
              <a:rPr lang="fa-IR" sz="2400" b="1" dirty="0">
                <a:solidFill>
                  <a:srgbClr val="15032C"/>
                </a:solidFill>
                <a:latin typeface="Dosis" pitchFamily="2" charset="0"/>
              </a:rPr>
              <a:t>     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2 Wires: TX (Transmit) &amp; RX (Receive).</a:t>
            </a:r>
          </a:p>
          <a:p>
            <a:r>
              <a:rPr lang="fa-IR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     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Used for: Debugging (Serial Monitor), GPS modules, GSM/LTE modems.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I2C (Inter-Integrated Circuit): </a:t>
            </a:r>
          </a:p>
          <a:p>
            <a:r>
              <a:rPr lang="fa-IR" sz="2400" b="1" dirty="0">
                <a:solidFill>
                  <a:srgbClr val="15032C"/>
                </a:solidFill>
                <a:latin typeface="Dosis" pitchFamily="2" charset="0"/>
              </a:rPr>
              <a:t>     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2 Wires: SDA (Data) &amp; SCL (Clock) + Shared Bus (Address-based).</a:t>
            </a:r>
          </a:p>
          <a:p>
            <a:r>
              <a:rPr lang="fa-IR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     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Used for: Low-speed sensors (Temperature, Humidity, OLED displays).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SPI (Serial Peripheral Interface): </a:t>
            </a:r>
          </a:p>
          <a:p>
            <a:r>
              <a:rPr lang="fa-IR" sz="2400" b="1" dirty="0">
                <a:solidFill>
                  <a:srgbClr val="15032C"/>
                </a:solidFill>
                <a:latin typeface="Dosis" pitchFamily="2" charset="0"/>
              </a:rPr>
              <a:t>      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4 Wires: MOSI, MISO, SCK, CS. High-speed synchronous protocol.</a:t>
            </a:r>
          </a:p>
          <a:p>
            <a:r>
              <a:rPr lang="fa-IR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       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Used for: SD Cards, TFT Color Displays, High-speed ADCs.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C4B6D5-CA21-26C4-CD7F-6D1D5765204D}"/>
              </a:ext>
            </a:extLst>
          </p:cNvPr>
          <p:cNvSpPr txBox="1"/>
          <p:nvPr/>
        </p:nvSpPr>
        <p:spPr>
          <a:xfrm>
            <a:off x="847562" y="1326696"/>
            <a:ext cx="802066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Firmware Fundamentals and Interfacing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6D7077-2C54-BA19-8D5E-3EA53679E744}"/>
              </a:ext>
            </a:extLst>
          </p:cNvPr>
          <p:cNvSpPr txBox="1"/>
          <p:nvPr/>
        </p:nvSpPr>
        <p:spPr>
          <a:xfrm>
            <a:off x="1685763" y="2169986"/>
            <a:ext cx="6556537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Digital Buses: How Chips Talk to Chips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6BFEEB5-221F-8D45-8AE8-3B63618874BB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3622" y="4905829"/>
            <a:ext cx="2439344" cy="195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1178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rgbClr val="FDFDFD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97292E-4908-39B7-FDAD-1CC8825D7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3448154-AEF6-BBBF-C808-8A538490E0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E4E50FCB-3907-DBF3-1009-0AD7EA180E4E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99C612B3-F3A2-9D52-0B16-D4D6F912B46F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4CEF28-35EA-7CDB-949E-7C561B1D8216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69F089D-92DE-7B80-C133-7A85F4E26705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 smtClean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633044-5184-9CB7-4CBE-FC32CDE370AC}"/>
              </a:ext>
            </a:extLst>
          </p:cNvPr>
          <p:cNvSpPr txBox="1"/>
          <p:nvPr/>
        </p:nvSpPr>
        <p:spPr>
          <a:xfrm>
            <a:off x="2147000" y="2890165"/>
            <a:ext cx="9791596" cy="243143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The MCU Limitation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: ESP32 pins provide max ~20mA at 3.3V →Cannot power motors/relays directly!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Transistors &amp; MOSFETs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: Electronic switches acting as current amplifiers.</a:t>
            </a:r>
          </a:p>
          <a:p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      Relays: Electromechanical switching for high-voltage AC loads (Mains 220V).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Flyback Diodes &amp; Optocouplers: </a:t>
            </a:r>
          </a:p>
          <a:p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      Protecting the MCU from high-voltage inductive spikes (Back-EMF).</a:t>
            </a:r>
          </a:p>
          <a:p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Dosis" pitchFamily="2" charset="0"/>
              </a:rPr>
              <a:t>       Galvanic isolation prevents noise and destruction.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5373F4-B650-A9F6-2CF8-C07F764BC334}"/>
              </a:ext>
            </a:extLst>
          </p:cNvPr>
          <p:cNvSpPr txBox="1"/>
          <p:nvPr/>
        </p:nvSpPr>
        <p:spPr>
          <a:xfrm>
            <a:off x="847562" y="1326696"/>
            <a:ext cx="802066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Firmware Fundamentals and Interfacing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B6D2F3-A3DE-472E-AA15-EDF4003836F7}"/>
              </a:ext>
            </a:extLst>
          </p:cNvPr>
          <p:cNvSpPr txBox="1"/>
          <p:nvPr/>
        </p:nvSpPr>
        <p:spPr>
          <a:xfrm>
            <a:off x="1685763" y="2169986"/>
            <a:ext cx="8439662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15032C"/>
                </a:solidFill>
                <a:latin typeface="Dosis" pitchFamily="2" charset="0"/>
              </a:rPr>
              <a:t>Controlling the Real World: Actuator Interfacing</a:t>
            </a:r>
          </a:p>
        </p:txBody>
      </p:sp>
    </p:spTree>
    <p:extLst>
      <p:ext uri="{BB962C8B-B14F-4D97-AF65-F5344CB8AC3E}">
        <p14:creationId xmlns:p14="http://schemas.microsoft.com/office/powerpoint/2010/main" val="29875806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01 SLIDEBAZAR">
      <a:dk1>
        <a:sysClr val="windowText" lastClr="000000"/>
      </a:dk1>
      <a:lt1>
        <a:srgbClr val="FFFFFF"/>
      </a:lt1>
      <a:dk2>
        <a:srgbClr val="7F7F7F"/>
      </a:dk2>
      <a:lt2>
        <a:srgbClr val="F2F2F2"/>
      </a:lt2>
      <a:accent1>
        <a:srgbClr val="FC4954"/>
      </a:accent1>
      <a:accent2>
        <a:srgbClr val="01BF7F"/>
      </a:accent2>
      <a:accent3>
        <a:srgbClr val="41B5E0"/>
      </a:accent3>
      <a:accent4>
        <a:srgbClr val="7969D0"/>
      </a:accent4>
      <a:accent5>
        <a:srgbClr val="2882EC"/>
      </a:accent5>
      <a:accent6>
        <a:srgbClr val="FCA81C"/>
      </a:accent6>
      <a:hlink>
        <a:srgbClr val="3A86FF"/>
      </a:hlink>
      <a:folHlink>
        <a:srgbClr val="8338EC"/>
      </a:folHlink>
    </a:clrScheme>
    <a:fontScheme name="01">
      <a:majorFont>
        <a:latin typeface="Archivo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3532</TotalTime>
  <Words>2095</Words>
  <Application>Microsoft Office PowerPoint</Application>
  <PresentationFormat>Widescreen</PresentationFormat>
  <Paragraphs>274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Agency FB</vt:lpstr>
      <vt:lpstr>Aptos</vt:lpstr>
      <vt:lpstr>Archivo</vt:lpstr>
      <vt:lpstr>Arial</vt:lpstr>
      <vt:lpstr>Cambria Math</vt:lpstr>
      <vt:lpstr>Dosis</vt:lpstr>
      <vt:lpstr>Poppins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ajisha vm</dc:creator>
  <cp:lastModifiedBy>Moorche</cp:lastModifiedBy>
  <cp:revision>53</cp:revision>
  <dcterms:created xsi:type="dcterms:W3CDTF">2024-09-18T09:18:35Z</dcterms:created>
  <dcterms:modified xsi:type="dcterms:W3CDTF">2026-09-30T14:31:13Z</dcterms:modified>
</cp:coreProperties>
</file>